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76138517" r:id="rId2"/>
    <p:sldId id="2076138518" r:id="rId3"/>
    <p:sldId id="2076138521" r:id="rId4"/>
    <p:sldId id="2076138520" r:id="rId5"/>
    <p:sldId id="2076138519" r:id="rId6"/>
    <p:sldId id="2076138516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7DE6BC-E7A3-B7CA-B4EE-CD3F7D44B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409F36-383C-54FC-F774-53963CCF9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FBAADA-5A7D-6E97-6A95-82A53BE7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C1051-564C-4F2E-D457-7DF03C98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F495C3-FCC9-2D21-B044-15539807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76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66A3A4-8713-E820-C1B7-17181600F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36D8A4-F9C2-74A0-88C0-4E7C3FA52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62F5E5-9282-5540-6F62-6248A3393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9926AA-9A7E-EBD9-571B-2DF90C2A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2871C6-27BA-6E37-779C-16D1F8C8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5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9137A1-E351-7A0C-92E8-01C05126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73796F-6417-7BBF-8D7B-85113436D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FF35F0-289A-DB66-D889-E519DB50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7C1E44-7DB0-6317-FCB4-A4F0AD43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11AD7B-92D7-791A-D152-1B9B7998A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82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FCB60-3B86-C31D-AFF2-E7738B9E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E64C30-48B8-D276-D0D1-B207D48AD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9198D08-DF6D-1B0A-50D4-C75F99DE4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D80F19-0EFE-2F02-ED2C-CC28DD7B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46E6A1-1415-347D-7BD4-4269239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AFD3E8-4174-E3FF-CA89-D0C4D927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13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993233-80B5-A628-3B89-AF6FF5E8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A30C07-1B8A-3AB5-7EBE-E9A6C905E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0E4319-FFD4-9972-6AC5-C7B57C309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75EEBEA-535C-877A-6956-81834833D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3E3A1E7-7E9A-D2F3-FEEC-00FC16FDA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E8128F-35B5-7A22-3B18-4FA0B3BD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85FC4DD-C254-3CA0-CC94-7EEDC6085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642F4EF-5EDA-AD87-A4FD-02B601F0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39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2A9CE0-4771-1254-F4BC-470CC451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E94C5D-3BD6-8E95-8B1B-33CD5D12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7D29B26-9CA7-E268-FE9A-25843893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54ACD51-5F87-96DC-A86B-8DE4B5F8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813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D4F29E-D59C-2692-11C6-19A7F6192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7B7E4B-E318-9121-D7FA-404E7743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5A4F61-7563-2EDE-04D1-41FD34AA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92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EDE05D-B0AF-82F6-A868-CC9233BD0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25E62B-8FCC-32D9-8007-642F601D0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6FE8ED-DEB5-CF22-6CA5-02B68D783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35F3CC-2BEB-83B2-ADCE-81DC9C4F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1E6029-B1BF-FBD4-5C8F-B417A665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FF5ABB-4875-B8BE-2B4A-FC0F3A38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31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9EAE6C-2749-9CA2-5651-6C906D97B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E8BCF2F-9A01-A17A-024C-4F4CD024EA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9850649-9C30-329C-A8D9-4DBE6218C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428020-D701-122E-29FD-E1F3EE46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6202CF-FA86-51AB-42BB-51948950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48DED8-E0E4-3DD4-FF90-FDFD973D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114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DDDC64-944A-0580-BB6E-59B0880F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A43D9F-AA1C-C90B-E1DA-2EBC52CC2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70C887-7950-D9D6-93F1-A93A908F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1EA7FC-14FA-CC1E-0E56-E47884725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0801B4-F03F-DC3D-FC83-E5329B5F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9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2F646EE-794D-C782-AD13-B57026ABF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FF8A14-F192-0B81-7F87-1A2BDDEEC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6FB7C9-B6E3-0E6D-D132-6B367D38C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0E7543-F86D-8E9F-DDB4-5BDDEF9B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980EB7-501D-566A-2E60-530346989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5181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40C4F14-CC47-D5CC-2400-77766EDAC1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602" y="154820"/>
            <a:ext cx="1157857" cy="337312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C3D396C5-9BCC-398B-4279-45026933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6953"/>
            <a:ext cx="9418561" cy="562572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11018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E093BB1-7CBB-37C1-4077-4DB3C0E70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11F7D1-7C02-5165-3AF9-EE7B1B2E6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2E0EED-7DBF-5B45-5808-CF05167F4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2DBDB-F3E8-4903-9A71-6CB37332ED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1F36BC-E2F8-7719-E110-4BDAA6B60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3E51CC-7060-9D90-FA2D-476B38D2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950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14828A0-8729-01E2-DC68-B96F7D3A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highlight>
                  <a:srgbClr val="FFFF00"/>
                </a:highlight>
              </a:rPr>
              <a:t>首頁</a:t>
            </a:r>
            <a:r>
              <a:rPr lang="en-US" altLang="zh-TW" dirty="0">
                <a:highlight>
                  <a:srgbClr val="FFFF00"/>
                </a:highlight>
              </a:rPr>
              <a:t>&gt;</a:t>
            </a:r>
            <a:r>
              <a:rPr lang="zh-TW" altLang="en-US" dirty="0">
                <a:highlight>
                  <a:srgbClr val="FFFF00"/>
                </a:highlight>
              </a:rPr>
              <a:t>主要強化我們跟其他平台的差異化</a:t>
            </a:r>
            <a:r>
              <a:rPr lang="en-US" altLang="zh-TW" dirty="0">
                <a:highlight>
                  <a:srgbClr val="FFFF00"/>
                </a:highlight>
              </a:rPr>
              <a:t>,</a:t>
            </a:r>
            <a:r>
              <a:rPr lang="zh-TW" altLang="en-US" dirty="0">
                <a:highlight>
                  <a:srgbClr val="FFFF00"/>
                </a:highlight>
              </a:rPr>
              <a:t>商模式不一樣的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73B33D2-4131-9EF5-A0A9-44A80C7DCA61}"/>
              </a:ext>
            </a:extLst>
          </p:cNvPr>
          <p:cNvSpPr txBox="1"/>
          <p:nvPr/>
        </p:nvSpPr>
        <p:spPr>
          <a:xfrm>
            <a:off x="457199" y="1409733"/>
            <a:ext cx="1173480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找師傅最怕的不是找不到人，是出了問題沒有人負責。</a:t>
            </a:r>
          </a:p>
          <a:p>
            <a:r>
              <a:rPr lang="zh-TW" altLang="zh-TW" b="1" dirty="0"/>
              <a:t>師虎來了不只是幫您找師傅，</a:t>
            </a:r>
            <a:r>
              <a:rPr lang="zh-TW" altLang="en-US" b="1" dirty="0"/>
              <a:t>還</a:t>
            </a:r>
            <a:r>
              <a:rPr lang="zh-TW" altLang="zh-TW" b="1" dirty="0"/>
              <a:t>提供付款保障、施工協助、平台保固與售後服務，陪您安心完成每一項工程。</a:t>
            </a:r>
            <a:endParaRPr lang="zh-TW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💳 全台唯一｜3 成訂金，7 成驗收滿意再付款</a:t>
            </a:r>
          </a:p>
          <a:p>
            <a:pPr>
              <a:buNone/>
            </a:pPr>
            <a:r>
              <a:rPr lang="zh-TW" altLang="en-US" dirty="0"/>
              <a:t>裝修</a:t>
            </a:r>
            <a:r>
              <a:rPr lang="zh-TW" altLang="zh-TW" dirty="0"/>
              <a:t>不用一開始就付</a:t>
            </a:r>
            <a:r>
              <a:rPr lang="zh-TW" altLang="en-US" dirty="0"/>
              <a:t>大筆</a:t>
            </a:r>
            <a:r>
              <a:rPr lang="zh-TW" altLang="zh-TW" dirty="0"/>
              <a:t>工程款，等工程完成、確認滿意後，再支付尾款，讓您的每一筆錢都更有保障。</a:t>
            </a:r>
            <a:endParaRPr lang="en-US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👷 施工過程有人協助</a:t>
            </a:r>
          </a:p>
          <a:p>
            <a:pPr>
              <a:buNone/>
            </a:pPr>
            <a:r>
              <a:rPr lang="zh-TW" altLang="zh-TW" dirty="0"/>
              <a:t>施工中如果有任何問題，不用自己一直和師傅溝通，直接聯繫師虎來了，我們會協助處理與協調。</a:t>
            </a:r>
            <a:endParaRPr lang="en-US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🛡️ 保固直接找師虎來了</a:t>
            </a:r>
          </a:p>
          <a:p>
            <a:pPr>
              <a:buNone/>
            </a:pPr>
            <a:r>
              <a:rPr lang="zh-TW" altLang="zh-TW" dirty="0"/>
              <a:t>保固期間有任何問題，不用擔心找不到師傅，直接聯繫師虎來了即可。</a:t>
            </a:r>
            <a:endParaRPr lang="en-US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💳 每一筆付款都有保障</a:t>
            </a:r>
          </a:p>
          <a:p>
            <a:pPr>
              <a:buNone/>
            </a:pPr>
            <a:r>
              <a:rPr lang="zh-TW" altLang="zh-TW" dirty="0"/>
              <a:t>所有工程款皆透過平台管理，不需私下付款給陌生師傅，交易更安心、更透明。</a:t>
            </a:r>
            <a:endParaRPr lang="en-US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🧾 發票由師虎來了開立</a:t>
            </a:r>
          </a:p>
          <a:p>
            <a:pPr>
              <a:buNone/>
            </a:pPr>
            <a:r>
              <a:rPr lang="zh-TW" altLang="zh-TW" dirty="0"/>
              <a:t>所有工程皆由師虎來了統一開立發票，付款更透明，報帳也更方便。</a:t>
            </a:r>
          </a:p>
          <a:p>
            <a:pPr>
              <a:buNone/>
            </a:pPr>
            <a:br>
              <a:rPr lang="zh-TW" altLang="zh-TW" dirty="0"/>
            </a:br>
            <a:endParaRPr lang="zh-TW" altLang="zh-TW" dirty="0"/>
          </a:p>
          <a:p>
            <a:pPr>
              <a:buNone/>
            </a:pPr>
            <a:r>
              <a:rPr lang="zh-TW" altLang="zh-TW" b="1" dirty="0"/>
              <a:t>最後一句（放在最下面）</a:t>
            </a:r>
          </a:p>
          <a:p>
            <a:pPr>
              <a:buNone/>
            </a:pPr>
            <a:r>
              <a:rPr lang="zh-TW" altLang="zh-TW" b="1" dirty="0"/>
              <a:t>我們不是把一位師傅介紹給您，而是對整個</a:t>
            </a:r>
            <a:r>
              <a:rPr lang="zh-TW" altLang="en-US" b="1" dirty="0"/>
              <a:t>修繕</a:t>
            </a:r>
            <a:r>
              <a:rPr lang="zh-TW" altLang="zh-TW" b="1" dirty="0"/>
              <a:t>服務負責。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54812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8EEBC-617F-BF1C-0B70-09E0B05E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企業福委會特約廠商</a:t>
            </a:r>
            <a:r>
              <a:rPr lang="en-US" altLang="zh-TW" dirty="0"/>
              <a:t>&gt;&gt;</a:t>
            </a:r>
            <a:r>
              <a:rPr lang="zh-TW" altLang="en-US" dirty="0"/>
              <a:t>是否有可以報名的地方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FD7FE18-F704-7CA2-5711-F8775218E8C9}"/>
              </a:ext>
            </a:extLst>
          </p:cNvPr>
          <p:cNvSpPr txBox="1"/>
          <p:nvPr/>
        </p:nvSpPr>
        <p:spPr>
          <a:xfrm>
            <a:off x="1876425" y="1924050"/>
            <a:ext cx="22621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統一證券</a:t>
            </a:r>
            <a:endParaRPr lang="en-US" altLang="zh-TW" dirty="0"/>
          </a:p>
          <a:p>
            <a:r>
              <a:rPr lang="zh-TW" altLang="en-US" dirty="0"/>
              <a:t>崇越科技</a:t>
            </a:r>
            <a:endParaRPr lang="en-US" altLang="zh-TW" dirty="0"/>
          </a:p>
          <a:p>
            <a:r>
              <a:rPr lang="zh-TW" altLang="en-US" dirty="0"/>
              <a:t>英濟科技</a:t>
            </a:r>
            <a:endParaRPr lang="en-US" altLang="zh-TW" dirty="0"/>
          </a:p>
          <a:p>
            <a:r>
              <a:rPr lang="zh-TW" altLang="en-US" dirty="0"/>
              <a:t>中華電信職工福委會</a:t>
            </a:r>
            <a:endParaRPr lang="en-US" altLang="zh-TW" dirty="0"/>
          </a:p>
          <a:p>
            <a:r>
              <a:rPr lang="zh-TW" altLang="en-US" dirty="0"/>
              <a:t>遠傳電信</a:t>
            </a:r>
            <a:endParaRPr lang="en-US" altLang="zh-TW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3D8443-4E08-C616-16DB-EE76991C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518" y="3705141"/>
            <a:ext cx="7214717" cy="250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89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447202-2678-42F8-097B-5211BA1B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/>
              <a:t>關於我們</a:t>
            </a:r>
            <a:r>
              <a:rPr lang="zh-TW" altLang="en-US"/>
              <a:t>調整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CC1A12E-38BC-C2E1-0782-27205662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731" y="3495988"/>
            <a:ext cx="4852679" cy="304847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16E2F70-AB28-19FE-DCAE-C151294D9A46}"/>
              </a:ext>
            </a:extLst>
          </p:cNvPr>
          <p:cNvSpPr txBox="1"/>
          <p:nvPr/>
        </p:nvSpPr>
        <p:spPr>
          <a:xfrm>
            <a:off x="838200" y="1421531"/>
            <a:ext cx="80746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/>
              <a:t>關於我們｜</a:t>
            </a:r>
            <a:r>
              <a:rPr lang="zh-TW" altLang="zh-TW" b="1" dirty="0"/>
              <a:t>師虎來了</a:t>
            </a:r>
          </a:p>
          <a:p>
            <a:r>
              <a:rPr lang="zh-TW" altLang="zh-TW" dirty="0"/>
              <a:t>每一個家，都值得被好好照顧。</a:t>
            </a:r>
          </a:p>
          <a:p>
            <a:r>
              <a:rPr lang="zh-TW" altLang="zh-TW" dirty="0"/>
              <a:t>師虎來了希望改變大家對修繕市場的印象，透過科技、制度與專業服務，讓找師傅不再靠運氣，而是一件安心、放心的事。我們相信，真正的修繕，不只是完成工程，而是建立一份長久的信任。</a:t>
            </a:r>
          </a:p>
          <a:p>
            <a:endParaRPr lang="zh-TW" altLang="zh-TW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CB550D7-D9C8-B22E-BE9C-19569FF01CFC}"/>
              </a:ext>
            </a:extLst>
          </p:cNvPr>
          <p:cNvSpPr txBox="1"/>
          <p:nvPr/>
        </p:nvSpPr>
        <p:spPr>
          <a:xfrm>
            <a:off x="838200" y="3682144"/>
            <a:ext cx="60943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/>
              <a:t>創辦人的話</a:t>
            </a:r>
          </a:p>
          <a:p>
            <a:r>
              <a:rPr lang="zh-TW" altLang="zh-TW" dirty="0"/>
              <a:t>每一個家，都承載著一個家庭的生活。</a:t>
            </a:r>
          </a:p>
          <a:p>
            <a:r>
              <a:rPr lang="zh-TW" altLang="zh-TW" dirty="0"/>
              <a:t>我創立師虎來了，不只是想打造一個修繕平台，而是希望建立一個值得信賴的服務品牌。</a:t>
            </a:r>
          </a:p>
          <a:p>
            <a:r>
              <a:rPr lang="zh-TW" altLang="zh-TW" dirty="0"/>
              <a:t>讓消費者不用再為找師傅而擔心，讓認真工作的師傅能憑藉專業獲得更多信任，讓每一次修繕，都能成為一次安心的服務體驗。</a:t>
            </a:r>
          </a:p>
          <a:p>
            <a:r>
              <a:rPr lang="zh-TW" altLang="zh-TW" b="1" dirty="0"/>
              <a:t>這就是師虎來了成立的初衷，也是我們一直努力的方向。</a:t>
            </a:r>
            <a:endParaRPr lang="zh-TW" altLang="zh-TW" dirty="0"/>
          </a:p>
          <a:p>
            <a:r>
              <a:rPr lang="zh-TW" altLang="zh-TW" b="1" dirty="0"/>
              <a:t>陳洛婕</a:t>
            </a:r>
            <a:br>
              <a:rPr lang="zh-TW" altLang="zh-TW" dirty="0"/>
            </a:br>
            <a:r>
              <a:rPr lang="zh-TW" altLang="zh-TW" dirty="0"/>
              <a:t>創辦人暨董事長</a:t>
            </a:r>
          </a:p>
        </p:txBody>
      </p:sp>
    </p:spTree>
    <p:extLst>
      <p:ext uri="{BB962C8B-B14F-4D97-AF65-F5344CB8AC3E}">
        <p14:creationId xmlns:p14="http://schemas.microsoft.com/office/powerpoint/2010/main" val="257387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9B7DDB-BAA0-C404-5144-BCCCB2A3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3EDFD21-6B57-8A3C-DF06-742CAD08DBB1}"/>
              </a:ext>
            </a:extLst>
          </p:cNvPr>
          <p:cNvSpPr txBox="1"/>
          <p:nvPr/>
        </p:nvSpPr>
        <p:spPr>
          <a:xfrm>
            <a:off x="977202" y="1985948"/>
            <a:ext cx="60943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b="1" dirty="0"/>
              <a:t>我們相信</a:t>
            </a:r>
          </a:p>
          <a:p>
            <a:r>
              <a:rPr lang="zh-TW" altLang="zh-TW" dirty="0"/>
              <a:t>修繕，不該是一個人孤軍奮戰。</a:t>
            </a:r>
            <a:r>
              <a:rPr lang="zh-TW" altLang="zh-TW" b="1" dirty="0"/>
              <a:t>師虎來了，讓您的修繕過程，不再像是孤兒。</a:t>
            </a:r>
            <a:endParaRPr lang="zh-TW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dirty="0"/>
              <a:t>每一個案件，都有專屬專案管理師陪您處理，協助媒合合適的師傅、追蹤施工進度、協調施工問題，直到工程完成，並提供平台保固服務。</a:t>
            </a:r>
          </a:p>
          <a:p>
            <a:pPr>
              <a:buNone/>
            </a:pPr>
            <a:r>
              <a:rPr lang="zh-TW" altLang="zh-TW" dirty="0"/>
              <a:t>因為我們希望，您不用再擔心找不到人、沒有人協助、出了問題不知道該找誰。</a:t>
            </a:r>
          </a:p>
          <a:p>
            <a:pPr>
              <a:buNone/>
            </a:pPr>
            <a:r>
              <a:rPr lang="zh-TW" altLang="zh-TW" b="1" dirty="0"/>
              <a:t>師虎來了，不只是幫您找到師傅，而是陪您把工程做好。</a:t>
            </a:r>
            <a:endParaRPr lang="zh-TW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15EBAE7-90E9-3023-D5BC-65723AF9A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48791"/>
            <a:ext cx="6506750" cy="250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964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DE16D1-F9F2-C397-7977-E11EEF41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未來展望</a:t>
            </a:r>
            <a:r>
              <a:rPr lang="en-US" altLang="zh-TW" dirty="0"/>
              <a:t>&gt;</a:t>
            </a:r>
            <a:r>
              <a:rPr lang="zh-TW" altLang="en-US" dirty="0"/>
              <a:t>改</a:t>
            </a:r>
            <a:r>
              <a:rPr lang="en-US" altLang="zh-TW" dirty="0"/>
              <a:t>&gt;</a:t>
            </a:r>
            <a:r>
              <a:rPr lang="zh-TW" altLang="zh-TW" dirty="0"/>
              <a:t>我們的願景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73F3EE0-6190-BB0A-7028-6D84B8143D82}"/>
              </a:ext>
            </a:extLst>
          </p:cNvPr>
          <p:cNvSpPr txBox="1"/>
          <p:nvPr/>
        </p:nvSpPr>
        <p:spPr>
          <a:xfrm>
            <a:off x="626347" y="175232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b="1" dirty="0"/>
              <a:t>我們想改變的，不只是修繕。</a:t>
            </a:r>
          </a:p>
          <a:p>
            <a:pPr>
              <a:buNone/>
            </a:pPr>
            <a:r>
              <a:rPr lang="zh-TW" altLang="zh-TW" dirty="0"/>
              <a:t>修繕只是開始。</a:t>
            </a:r>
          </a:p>
          <a:p>
            <a:pPr>
              <a:buNone/>
            </a:pPr>
            <a:r>
              <a:rPr lang="zh-TW" altLang="zh-TW" dirty="0"/>
              <a:t>未來，師虎來了將持續結合 AI、數位科技與企業合作，串聯更多居家生活服務，打造一個讓消費者</a:t>
            </a:r>
            <a:r>
              <a:rPr lang="zh-TW" altLang="zh-TW" b="1" dirty="0"/>
              <a:t>一次找到、一次解決、一次安心</a:t>
            </a:r>
            <a:r>
              <a:rPr lang="zh-TW" altLang="zh-TW" dirty="0"/>
              <a:t>的平台。</a:t>
            </a:r>
          </a:p>
          <a:p>
            <a:pPr>
              <a:buNone/>
            </a:pPr>
            <a:r>
              <a:rPr lang="zh-TW" altLang="zh-TW" dirty="0"/>
              <a:t>我們相信，好的服務不只是完成一項工程，而是讓每一個家庭，都能因為科技而享有更安心、更便利的生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506E45-4C7D-AA85-4662-6EEE20B5B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481" y="3689804"/>
            <a:ext cx="5768221" cy="292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9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3D116A-A68F-AD15-8EA2-5703E2DCD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</a:rPr>
              <a:t>關於我們</a:t>
            </a:r>
            <a:r>
              <a:rPr lang="en-US" altLang="zh-TW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</a:rPr>
              <a:t>公司里程碑</a:t>
            </a:r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D7CE3EE7-AE11-5CD1-75DE-7BDF889A2A95}"/>
              </a:ext>
            </a:extLst>
          </p:cNvPr>
          <p:cNvGrpSpPr/>
          <p:nvPr/>
        </p:nvGrpSpPr>
        <p:grpSpPr>
          <a:xfrm>
            <a:off x="-820707" y="1047186"/>
            <a:ext cx="10487433" cy="5295724"/>
            <a:chOff x="-245543" y="1453387"/>
            <a:chExt cx="7865575" cy="3971793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FD9EB382-B06C-A4D3-E24A-003B79AF77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245543" y="1453387"/>
              <a:ext cx="7865575" cy="3971793"/>
              <a:chOff x="505644" y="1799743"/>
              <a:chExt cx="5050028" cy="2550059"/>
            </a:xfrm>
          </p:grpSpPr>
          <p:sp>
            <p:nvSpPr>
              <p:cNvPr id="11" name="Text 4">
                <a:extLst>
                  <a:ext uri="{FF2B5EF4-FFF2-40B4-BE49-F238E27FC236}">
                    <a16:creationId xmlns:a16="http://schemas.microsoft.com/office/drawing/2014/main" id="{132A2F90-9E59-B1D4-A1F4-A241B79BDCE9}"/>
                  </a:ext>
                </a:extLst>
              </p:cNvPr>
              <p:cNvSpPr/>
              <p:nvPr/>
            </p:nvSpPr>
            <p:spPr>
              <a:xfrm>
                <a:off x="1191213" y="1799743"/>
                <a:ext cx="4364459" cy="36715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endParaRPr lang="zh-CN" altLang="en-US" sz="1333" dirty="0"/>
              </a:p>
            </p:txBody>
          </p:sp>
          <p:sp>
            <p:nvSpPr>
              <p:cNvPr id="12" name="Text 5">
                <a:extLst>
                  <a:ext uri="{FF2B5EF4-FFF2-40B4-BE49-F238E27FC236}">
                    <a16:creationId xmlns:a16="http://schemas.microsoft.com/office/drawing/2014/main" id="{C764C9ED-230D-61B7-305E-CE09B8B2F4B3}"/>
                  </a:ext>
                </a:extLst>
              </p:cNvPr>
              <p:cNvSpPr/>
              <p:nvPr/>
            </p:nvSpPr>
            <p:spPr>
              <a:xfrm>
                <a:off x="1191212" y="2052903"/>
                <a:ext cx="4000277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endParaRPr lang="zh-CN" altLang="en-US" sz="1867" b="1" dirty="0">
                  <a:solidFill>
                    <a:srgbClr val="333333"/>
                  </a:solidFill>
                  <a:latin typeface="Noto Sans TC Bold" pitchFamily="34" charset="0"/>
                  <a:ea typeface="Noto Sans TC Bold" pitchFamily="34" charset="-122"/>
                </a:endParaRPr>
              </a:p>
            </p:txBody>
          </p:sp>
          <p:sp>
            <p:nvSpPr>
              <p:cNvPr id="13" name="Shape 6">
                <a:extLst>
                  <a:ext uri="{FF2B5EF4-FFF2-40B4-BE49-F238E27FC236}">
                    <a16:creationId xmlns:a16="http://schemas.microsoft.com/office/drawing/2014/main" id="{6FF011BD-9088-A5F0-2D97-26A068FBEC04}"/>
                  </a:ext>
                </a:extLst>
              </p:cNvPr>
              <p:cNvSpPr/>
              <p:nvPr/>
            </p:nvSpPr>
            <p:spPr>
              <a:xfrm>
                <a:off x="2500982" y="2073922"/>
                <a:ext cx="9525" cy="2275880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</p:sp>
          <p:sp>
            <p:nvSpPr>
              <p:cNvPr id="14" name="Shape 7">
                <a:extLst>
                  <a:ext uri="{FF2B5EF4-FFF2-40B4-BE49-F238E27FC236}">
                    <a16:creationId xmlns:a16="http://schemas.microsoft.com/office/drawing/2014/main" id="{2C7AB9DB-2539-7CE3-F9F7-18D70898E988}"/>
                  </a:ext>
                </a:extLst>
              </p:cNvPr>
              <p:cNvSpPr/>
              <p:nvPr/>
            </p:nvSpPr>
            <p:spPr>
              <a:xfrm>
                <a:off x="2391296" y="2138885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</p:sp>
          <p:sp>
            <p:nvSpPr>
              <p:cNvPr id="15" name="Shape 8">
                <a:extLst>
                  <a:ext uri="{FF2B5EF4-FFF2-40B4-BE49-F238E27FC236}">
                    <a16:creationId xmlns:a16="http://schemas.microsoft.com/office/drawing/2014/main" id="{36991990-6511-0618-74BC-65177190124D}"/>
                  </a:ext>
                </a:extLst>
              </p:cNvPr>
              <p:cNvSpPr/>
              <p:nvPr/>
            </p:nvSpPr>
            <p:spPr>
              <a:xfrm>
                <a:off x="2482490" y="2120393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</p:sp>
          <p:sp>
            <p:nvSpPr>
              <p:cNvPr id="16" name="Text 9">
                <a:extLst>
                  <a:ext uri="{FF2B5EF4-FFF2-40B4-BE49-F238E27FC236}">
                    <a16:creationId xmlns:a16="http://schemas.microsoft.com/office/drawing/2014/main" id="{F40BACDE-1E97-2B99-4353-71EBF1334BDC}"/>
                  </a:ext>
                </a:extLst>
              </p:cNvPr>
              <p:cNvSpPr/>
              <p:nvPr/>
            </p:nvSpPr>
            <p:spPr>
              <a:xfrm>
                <a:off x="505644" y="2095204"/>
                <a:ext cx="1752079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>
                  <a:lnSpc>
                    <a:spcPct val="104000"/>
                  </a:lnSpc>
                </a:pPr>
                <a:r>
                  <a:rPr 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2019</a:t>
                </a:r>
                <a:endParaRPr lang="en-US" sz="1400" dirty="0"/>
              </a:p>
            </p:txBody>
          </p:sp>
          <p:sp>
            <p:nvSpPr>
              <p:cNvPr id="17" name="Text 10">
                <a:extLst>
                  <a:ext uri="{FF2B5EF4-FFF2-40B4-BE49-F238E27FC236}">
                    <a16:creationId xmlns:a16="http://schemas.microsoft.com/office/drawing/2014/main" id="{36523ECF-DACB-DA02-F5E1-DB25E8C38B46}"/>
                  </a:ext>
                </a:extLst>
              </p:cNvPr>
              <p:cNvSpPr/>
              <p:nvPr/>
            </p:nvSpPr>
            <p:spPr>
              <a:xfrm>
                <a:off x="505644" y="2223048"/>
                <a:ext cx="1752079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/>
                <a:r>
                  <a:rPr lang="zh-CN" altLang="en-US" sz="1400" dirty="0">
                    <a:solidFill>
                      <a:srgbClr val="5E5E5E"/>
                    </a:solidFill>
                    <a:latin typeface="Noto Sans TC" pitchFamily="34" charset="0"/>
                    <a:ea typeface="Noto Sans TC" pitchFamily="34" charset="-122"/>
                    <a:cs typeface="Noto Sans TC" pitchFamily="34" charset="-120"/>
                  </a:rPr>
                  <a:t>成立</a:t>
                </a:r>
                <a:endParaRPr lang="zh-CN" altLang="en-US" sz="1400" dirty="0"/>
              </a:p>
            </p:txBody>
          </p:sp>
          <p:sp>
            <p:nvSpPr>
              <p:cNvPr id="18" name="Shape 11">
                <a:extLst>
                  <a:ext uri="{FF2B5EF4-FFF2-40B4-BE49-F238E27FC236}">
                    <a16:creationId xmlns:a16="http://schemas.microsoft.com/office/drawing/2014/main" id="{5D0C5A45-762B-AF29-2742-B041464FA7EB}"/>
                  </a:ext>
                </a:extLst>
              </p:cNvPr>
              <p:cNvSpPr/>
              <p:nvPr/>
            </p:nvSpPr>
            <p:spPr>
              <a:xfrm>
                <a:off x="2496220" y="2448894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</p:sp>
          <p:sp>
            <p:nvSpPr>
              <p:cNvPr id="19" name="Shape 12">
                <a:extLst>
                  <a:ext uri="{FF2B5EF4-FFF2-40B4-BE49-F238E27FC236}">
                    <a16:creationId xmlns:a16="http://schemas.microsoft.com/office/drawing/2014/main" id="{4644E2D3-BD1A-B16A-4C41-8F3A8365D40A}"/>
                  </a:ext>
                </a:extLst>
              </p:cNvPr>
              <p:cNvSpPr/>
              <p:nvPr/>
            </p:nvSpPr>
            <p:spPr>
              <a:xfrm>
                <a:off x="2482490" y="2430402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</p:sp>
          <p:sp>
            <p:nvSpPr>
              <p:cNvPr id="20" name="Text 13">
                <a:extLst>
                  <a:ext uri="{FF2B5EF4-FFF2-40B4-BE49-F238E27FC236}">
                    <a16:creationId xmlns:a16="http://schemas.microsoft.com/office/drawing/2014/main" id="{0CC79C4F-D25D-FA21-C286-C38A3951155F}"/>
                  </a:ext>
                </a:extLst>
              </p:cNvPr>
              <p:cNvSpPr/>
              <p:nvPr/>
            </p:nvSpPr>
            <p:spPr>
              <a:xfrm>
                <a:off x="2753767" y="2405213"/>
                <a:ext cx="1752154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2021</a:t>
                </a:r>
                <a:endParaRPr lang="en-US" sz="1400" dirty="0"/>
              </a:p>
            </p:txBody>
          </p:sp>
          <p:sp>
            <p:nvSpPr>
              <p:cNvPr id="21" name="Text 14">
                <a:extLst>
                  <a:ext uri="{FF2B5EF4-FFF2-40B4-BE49-F238E27FC236}">
                    <a16:creationId xmlns:a16="http://schemas.microsoft.com/office/drawing/2014/main" id="{EF86CA72-D06B-806A-2616-082C49349D84}"/>
                  </a:ext>
                </a:extLst>
              </p:cNvPr>
              <p:cNvSpPr/>
              <p:nvPr/>
            </p:nvSpPr>
            <p:spPr>
              <a:xfrm>
                <a:off x="2753767" y="2533057"/>
                <a:ext cx="1752154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zh-CN" altLang="en-US" sz="1400" dirty="0">
                    <a:solidFill>
                      <a:srgbClr val="5E5E5E"/>
                    </a:solidFill>
                    <a:latin typeface="Noto Sans TC" pitchFamily="34" charset="0"/>
                    <a:ea typeface="Noto Sans TC" pitchFamily="34" charset="-122"/>
                    <a:cs typeface="Noto Sans TC" pitchFamily="34" charset="-120"/>
                  </a:rPr>
                  <a:t>平台正式上線</a:t>
                </a:r>
                <a:endParaRPr lang="zh-CN" altLang="en-US" sz="1400" dirty="0"/>
              </a:p>
            </p:txBody>
          </p:sp>
          <p:sp>
            <p:nvSpPr>
              <p:cNvPr id="22" name="Shape 15">
                <a:extLst>
                  <a:ext uri="{FF2B5EF4-FFF2-40B4-BE49-F238E27FC236}">
                    <a16:creationId xmlns:a16="http://schemas.microsoft.com/office/drawing/2014/main" id="{0C427D7D-ED39-93F1-EB1F-0C202D93CDE4}"/>
                  </a:ext>
                </a:extLst>
              </p:cNvPr>
              <p:cNvSpPr/>
              <p:nvPr/>
            </p:nvSpPr>
            <p:spPr>
              <a:xfrm>
                <a:off x="2391296" y="2738588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</p:sp>
          <p:sp>
            <p:nvSpPr>
              <p:cNvPr id="23" name="Shape 16">
                <a:extLst>
                  <a:ext uri="{FF2B5EF4-FFF2-40B4-BE49-F238E27FC236}">
                    <a16:creationId xmlns:a16="http://schemas.microsoft.com/office/drawing/2014/main" id="{4FD00578-21A5-DEB5-B864-D9C21B1EC389}"/>
                  </a:ext>
                </a:extLst>
              </p:cNvPr>
              <p:cNvSpPr/>
              <p:nvPr/>
            </p:nvSpPr>
            <p:spPr>
              <a:xfrm>
                <a:off x="2482490" y="2720096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</p:sp>
          <p:sp>
            <p:nvSpPr>
              <p:cNvPr id="24" name="Shape 19">
                <a:extLst>
                  <a:ext uri="{FF2B5EF4-FFF2-40B4-BE49-F238E27FC236}">
                    <a16:creationId xmlns:a16="http://schemas.microsoft.com/office/drawing/2014/main" id="{D197D2E3-A312-9E87-AB3C-CF26AD4FC09B}"/>
                  </a:ext>
                </a:extLst>
              </p:cNvPr>
              <p:cNvSpPr/>
              <p:nvPr/>
            </p:nvSpPr>
            <p:spPr>
              <a:xfrm>
                <a:off x="2496220" y="3028282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</p:sp>
          <p:sp>
            <p:nvSpPr>
              <p:cNvPr id="25" name="Shape 20">
                <a:extLst>
                  <a:ext uri="{FF2B5EF4-FFF2-40B4-BE49-F238E27FC236}">
                    <a16:creationId xmlns:a16="http://schemas.microsoft.com/office/drawing/2014/main" id="{3DE32A9A-74C8-CB53-F9B2-722386E5F03D}"/>
                  </a:ext>
                </a:extLst>
              </p:cNvPr>
              <p:cNvSpPr/>
              <p:nvPr/>
            </p:nvSpPr>
            <p:spPr>
              <a:xfrm>
                <a:off x="2482490" y="3009790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</p:sp>
          <p:sp>
            <p:nvSpPr>
              <p:cNvPr id="26" name="Text 21">
                <a:extLst>
                  <a:ext uri="{FF2B5EF4-FFF2-40B4-BE49-F238E27FC236}">
                    <a16:creationId xmlns:a16="http://schemas.microsoft.com/office/drawing/2014/main" id="{703C92F9-6337-1DF8-7FBE-B1E0C4092FEB}"/>
                  </a:ext>
                </a:extLst>
              </p:cNvPr>
              <p:cNvSpPr/>
              <p:nvPr/>
            </p:nvSpPr>
            <p:spPr>
              <a:xfrm>
                <a:off x="1928181" y="2979838"/>
                <a:ext cx="1752154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zh-CN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25,000 筆</a:t>
                </a:r>
                <a:endParaRPr lang="zh-CN" altLang="en-US" sz="1400" dirty="0"/>
              </a:p>
            </p:txBody>
          </p:sp>
          <p:sp>
            <p:nvSpPr>
              <p:cNvPr id="27" name="Text 22">
                <a:extLst>
                  <a:ext uri="{FF2B5EF4-FFF2-40B4-BE49-F238E27FC236}">
                    <a16:creationId xmlns:a16="http://schemas.microsoft.com/office/drawing/2014/main" id="{2017799D-1A3B-6459-97DD-70619919DD3F}"/>
                  </a:ext>
                </a:extLst>
              </p:cNvPr>
              <p:cNvSpPr/>
              <p:nvPr/>
            </p:nvSpPr>
            <p:spPr>
              <a:xfrm>
                <a:off x="1928181" y="3107683"/>
                <a:ext cx="1752154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zh-TW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</a:rPr>
                  <a:t>完成交易</a:t>
                </a:r>
                <a:endParaRPr lang="zh-CN" altLang="en-US" sz="1400" b="1" dirty="0">
                  <a:solidFill>
                    <a:srgbClr val="5E5E5E"/>
                  </a:solidFill>
                  <a:latin typeface="Noto Sans TC Bold" pitchFamily="34" charset="0"/>
                  <a:ea typeface="Noto Sans TC Bold" pitchFamily="34" charset="-122"/>
                </a:endParaRPr>
              </a:p>
            </p:txBody>
          </p:sp>
          <p:sp>
            <p:nvSpPr>
              <p:cNvPr id="28" name="Shape 23">
                <a:extLst>
                  <a:ext uri="{FF2B5EF4-FFF2-40B4-BE49-F238E27FC236}">
                    <a16:creationId xmlns:a16="http://schemas.microsoft.com/office/drawing/2014/main" id="{D5C5CECD-B43F-8EA7-FDA7-22C49325C900}"/>
                  </a:ext>
                </a:extLst>
              </p:cNvPr>
              <p:cNvSpPr/>
              <p:nvPr/>
            </p:nvSpPr>
            <p:spPr>
              <a:xfrm>
                <a:off x="2391296" y="3317976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</p:sp>
          <p:sp>
            <p:nvSpPr>
              <p:cNvPr id="29" name="Shape 24">
                <a:extLst>
                  <a:ext uri="{FF2B5EF4-FFF2-40B4-BE49-F238E27FC236}">
                    <a16:creationId xmlns:a16="http://schemas.microsoft.com/office/drawing/2014/main" id="{2E3C1746-5AEB-C5DE-82CD-070975044666}"/>
                  </a:ext>
                </a:extLst>
              </p:cNvPr>
              <p:cNvSpPr/>
              <p:nvPr/>
            </p:nvSpPr>
            <p:spPr>
              <a:xfrm>
                <a:off x="2482490" y="3299484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</p:sp>
          <p:sp>
            <p:nvSpPr>
              <p:cNvPr id="30" name="Text 25">
                <a:extLst>
                  <a:ext uri="{FF2B5EF4-FFF2-40B4-BE49-F238E27FC236}">
                    <a16:creationId xmlns:a16="http://schemas.microsoft.com/office/drawing/2014/main" id="{D835038C-C27B-163E-94BF-0ED68F0CFD90}"/>
                  </a:ext>
                </a:extLst>
              </p:cNvPr>
              <p:cNvSpPr/>
              <p:nvPr/>
            </p:nvSpPr>
            <p:spPr>
              <a:xfrm>
                <a:off x="505644" y="2668009"/>
                <a:ext cx="1752079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>
                  <a:lnSpc>
                    <a:spcPct val="104000"/>
                  </a:lnSpc>
                </a:pPr>
                <a:r>
                  <a:rPr lang="zh-CN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</a:t>
                </a:r>
                <a:r>
                  <a:rPr lang="en-US" altLang="zh-CN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</a:t>
                </a:r>
                <a:r>
                  <a:rPr lang="zh-CN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 萬</a:t>
                </a:r>
                <a:endParaRPr lang="zh-CN" altLang="en-US" sz="1400" dirty="0"/>
              </a:p>
            </p:txBody>
          </p:sp>
          <p:sp>
            <p:nvSpPr>
              <p:cNvPr id="31" name="Text 26">
                <a:extLst>
                  <a:ext uri="{FF2B5EF4-FFF2-40B4-BE49-F238E27FC236}">
                    <a16:creationId xmlns:a16="http://schemas.microsoft.com/office/drawing/2014/main" id="{9022518D-229C-B5D8-ECC6-A982D3C7359E}"/>
                  </a:ext>
                </a:extLst>
              </p:cNvPr>
              <p:cNvSpPr/>
              <p:nvPr/>
            </p:nvSpPr>
            <p:spPr>
              <a:xfrm>
                <a:off x="505644" y="2795854"/>
                <a:ext cx="1752079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/>
                <a:r>
                  <a:rPr lang="zh-CN" altLang="en-US" sz="1400" dirty="0">
                    <a:solidFill>
                      <a:srgbClr val="5E5E5E"/>
                    </a:solidFill>
                    <a:latin typeface="Noto Sans TC" pitchFamily="34" charset="0"/>
                    <a:ea typeface="Noto Sans TC" pitchFamily="34" charset="-122"/>
                    <a:cs typeface="Noto Sans TC" pitchFamily="34" charset="-120"/>
                  </a:rPr>
                  <a:t>平台會員</a:t>
                </a:r>
                <a:endParaRPr lang="zh-CN" altLang="en-US" sz="1400" dirty="0"/>
              </a:p>
            </p:txBody>
          </p:sp>
          <p:sp>
            <p:nvSpPr>
              <p:cNvPr id="32" name="Shape 27">
                <a:extLst>
                  <a:ext uri="{FF2B5EF4-FFF2-40B4-BE49-F238E27FC236}">
                    <a16:creationId xmlns:a16="http://schemas.microsoft.com/office/drawing/2014/main" id="{C0D32110-D3D7-F866-F8B4-FB8FA2218919}"/>
                  </a:ext>
                </a:extLst>
              </p:cNvPr>
              <p:cNvSpPr/>
              <p:nvPr/>
            </p:nvSpPr>
            <p:spPr>
              <a:xfrm>
                <a:off x="2496220" y="3607670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</p:sp>
          <p:sp>
            <p:nvSpPr>
              <p:cNvPr id="33" name="Shape 28">
                <a:extLst>
                  <a:ext uri="{FF2B5EF4-FFF2-40B4-BE49-F238E27FC236}">
                    <a16:creationId xmlns:a16="http://schemas.microsoft.com/office/drawing/2014/main" id="{6FA34576-0AE6-6775-C9BC-F49B0590B163}"/>
                  </a:ext>
                </a:extLst>
              </p:cNvPr>
              <p:cNvSpPr/>
              <p:nvPr/>
            </p:nvSpPr>
            <p:spPr>
              <a:xfrm>
                <a:off x="2482490" y="3589178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</p:sp>
          <p:sp>
            <p:nvSpPr>
              <p:cNvPr id="34" name="Text 29">
                <a:extLst>
                  <a:ext uri="{FF2B5EF4-FFF2-40B4-BE49-F238E27FC236}">
                    <a16:creationId xmlns:a16="http://schemas.microsoft.com/office/drawing/2014/main" id="{4C0EA9BB-735E-217F-A2B7-7949FCF51460}"/>
                  </a:ext>
                </a:extLst>
              </p:cNvPr>
              <p:cNvSpPr/>
              <p:nvPr/>
            </p:nvSpPr>
            <p:spPr>
              <a:xfrm>
                <a:off x="1928181" y="3269532"/>
                <a:ext cx="1752154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zh-CN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2,200 位</a:t>
                </a:r>
                <a:endParaRPr lang="zh-CN" altLang="en-US" sz="1400" dirty="0"/>
              </a:p>
            </p:txBody>
          </p:sp>
          <p:sp>
            <p:nvSpPr>
              <p:cNvPr id="35" name="Text 30">
                <a:extLst>
                  <a:ext uri="{FF2B5EF4-FFF2-40B4-BE49-F238E27FC236}">
                    <a16:creationId xmlns:a16="http://schemas.microsoft.com/office/drawing/2014/main" id="{2B89675A-8447-CDEE-FA55-0C60AB32B1CE}"/>
                  </a:ext>
                </a:extLst>
              </p:cNvPr>
              <p:cNvSpPr/>
              <p:nvPr/>
            </p:nvSpPr>
            <p:spPr>
              <a:xfrm>
                <a:off x="1928181" y="3397376"/>
                <a:ext cx="1752154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zh-CN" altLang="en-US" sz="1400" dirty="0">
                    <a:solidFill>
                      <a:srgbClr val="5E5E5E"/>
                    </a:solidFill>
                    <a:latin typeface="Noto Sans TC" pitchFamily="34" charset="0"/>
                    <a:ea typeface="Noto Sans TC" pitchFamily="34" charset="-122"/>
                    <a:cs typeface="Noto Sans TC" pitchFamily="34" charset="-120"/>
                  </a:rPr>
                  <a:t>合作師傅</a:t>
                </a:r>
                <a:endParaRPr lang="zh-CN" altLang="en-US" sz="1400" dirty="0"/>
              </a:p>
            </p:txBody>
          </p:sp>
          <p:sp>
            <p:nvSpPr>
              <p:cNvPr id="36" name="Shape 31">
                <a:extLst>
                  <a:ext uri="{FF2B5EF4-FFF2-40B4-BE49-F238E27FC236}">
                    <a16:creationId xmlns:a16="http://schemas.microsoft.com/office/drawing/2014/main" id="{5102D88D-4A31-A7AD-F3C4-B4A8004ED4C9}"/>
                  </a:ext>
                </a:extLst>
              </p:cNvPr>
              <p:cNvSpPr/>
              <p:nvPr/>
            </p:nvSpPr>
            <p:spPr>
              <a:xfrm>
                <a:off x="2391296" y="3897364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</p:sp>
          <p:sp>
            <p:nvSpPr>
              <p:cNvPr id="37" name="Shape 32">
                <a:extLst>
                  <a:ext uri="{FF2B5EF4-FFF2-40B4-BE49-F238E27FC236}">
                    <a16:creationId xmlns:a16="http://schemas.microsoft.com/office/drawing/2014/main" id="{6B1EB411-7798-01E0-E051-E26F91B3B98A}"/>
                  </a:ext>
                </a:extLst>
              </p:cNvPr>
              <p:cNvSpPr/>
              <p:nvPr/>
            </p:nvSpPr>
            <p:spPr>
              <a:xfrm>
                <a:off x="2482490" y="3878872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</p:sp>
          <p:sp>
            <p:nvSpPr>
              <p:cNvPr id="38" name="Text 33">
                <a:extLst>
                  <a:ext uri="{FF2B5EF4-FFF2-40B4-BE49-F238E27FC236}">
                    <a16:creationId xmlns:a16="http://schemas.microsoft.com/office/drawing/2014/main" id="{BEF5ECFD-C603-084D-103C-EECFC5ED2394}"/>
                  </a:ext>
                </a:extLst>
              </p:cNvPr>
              <p:cNvSpPr/>
              <p:nvPr/>
            </p:nvSpPr>
            <p:spPr>
              <a:xfrm>
                <a:off x="505644" y="3853683"/>
                <a:ext cx="1752079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>
                  <a:lnSpc>
                    <a:spcPct val="104000"/>
                  </a:lnSpc>
                </a:pPr>
                <a:r>
                  <a:rPr 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2028</a:t>
                </a:r>
                <a:r>
                  <a:rPr lang="zh-TW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海外據點</a:t>
                </a:r>
                <a:endParaRPr lang="en-US" sz="1400" dirty="0"/>
              </a:p>
            </p:txBody>
          </p:sp>
        </p:grpSp>
        <p:sp>
          <p:nvSpPr>
            <p:cNvPr id="7" name="Text 13">
              <a:extLst>
                <a:ext uri="{FF2B5EF4-FFF2-40B4-BE49-F238E27FC236}">
                  <a16:creationId xmlns:a16="http://schemas.microsoft.com/office/drawing/2014/main" id="{BD01FCAB-E154-025B-DD61-8F04FF807232}"/>
                </a:ext>
              </a:extLst>
            </p:cNvPr>
            <p:cNvSpPr/>
            <p:nvPr/>
          </p:nvSpPr>
          <p:spPr>
            <a:xfrm>
              <a:off x="3154731" y="4130634"/>
              <a:ext cx="2729034" cy="1509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4000"/>
                </a:lnSpc>
              </a:pPr>
              <a:r>
                <a:rPr lang="en-US" sz="1400" b="1" dirty="0">
                  <a:solidFill>
                    <a:srgbClr val="5E5E5E"/>
                  </a:solidFill>
                  <a:latin typeface="Noto Sans TC Bold" pitchFamily="34" charset="0"/>
                  <a:ea typeface="Noto Sans TC Bold" pitchFamily="34" charset="-122"/>
                  <a:cs typeface="Noto Sans TC Bold" pitchFamily="34" charset="-120"/>
                </a:rPr>
                <a:t>2027</a:t>
              </a:r>
              <a:endParaRPr lang="en-US" sz="1400" dirty="0"/>
            </a:p>
          </p:txBody>
        </p:sp>
        <p:sp>
          <p:nvSpPr>
            <p:cNvPr id="8" name="Text 14">
              <a:extLst>
                <a:ext uri="{FF2B5EF4-FFF2-40B4-BE49-F238E27FC236}">
                  <a16:creationId xmlns:a16="http://schemas.microsoft.com/office/drawing/2014/main" id="{23386C8E-4485-3BCF-5610-9FACAFEA0924}"/>
                </a:ext>
              </a:extLst>
            </p:cNvPr>
            <p:cNvSpPr/>
            <p:nvPr/>
          </p:nvSpPr>
          <p:spPr>
            <a:xfrm>
              <a:off x="3154731" y="4329755"/>
              <a:ext cx="2729034" cy="115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zh-TW" altLang="en-US" sz="1400" dirty="0">
                  <a:solidFill>
                    <a:srgbClr val="5E5E5E"/>
                  </a:solidFill>
                  <a:latin typeface="Noto Sans TC" pitchFamily="34" charset="0"/>
                  <a:ea typeface="Noto Sans TC" pitchFamily="34" charset="-122"/>
                </a:rPr>
                <a:t>商城正式啟用</a:t>
              </a:r>
              <a:endParaRPr lang="zh-CN" altLang="en-US" sz="1400" dirty="0"/>
            </a:p>
          </p:txBody>
        </p:sp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8320ACBE-DEF5-716B-42BA-6B503A86FF12}"/>
                </a:ext>
              </a:extLst>
            </p:cNvPr>
            <p:cNvSpPr/>
            <p:nvPr/>
          </p:nvSpPr>
          <p:spPr>
            <a:xfrm>
              <a:off x="3027163" y="2826574"/>
              <a:ext cx="2729034" cy="1509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4000"/>
                </a:lnSpc>
              </a:pPr>
              <a:r>
                <a:rPr lang="en-US" sz="1400" b="1" dirty="0">
                  <a:solidFill>
                    <a:srgbClr val="5E5E5E"/>
                  </a:solidFill>
                  <a:latin typeface="Noto Sans TC Bold" pitchFamily="34" charset="0"/>
                  <a:ea typeface="Noto Sans TC Bold" pitchFamily="34" charset="-122"/>
                  <a:cs typeface="Noto Sans TC Bold" pitchFamily="34" charset="-120"/>
                </a:rPr>
                <a:t>2026</a:t>
              </a:r>
              <a:endParaRPr lang="en-US" sz="1400" dirty="0"/>
            </a:p>
          </p:txBody>
        </p:sp>
      </p:grp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0455FC6-D5BA-13EE-5A63-FD76E711247A}"/>
              </a:ext>
            </a:extLst>
          </p:cNvPr>
          <p:cNvSpPr txBox="1"/>
          <p:nvPr/>
        </p:nvSpPr>
        <p:spPr>
          <a:xfrm>
            <a:off x="4940248" y="1660772"/>
            <a:ext cx="7362320" cy="2263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年榮獲</a:t>
            </a:r>
            <a:r>
              <a:rPr lang="zh-TW" altLang="en-US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品牌金舶獎、金漾獎、 新創</a:t>
            </a:r>
            <a:r>
              <a:rPr lang="en-US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100</a:t>
            </a:r>
            <a:r>
              <a:rPr lang="zh-TW" altLang="en-US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大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2023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年榮獲第七屆</a:t>
            </a:r>
            <a:r>
              <a:rPr lang="zh-TW" altLang="en-US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台北市亮點企業 創新服務獎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2023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年獲得</a:t>
            </a:r>
            <a:r>
              <a:rPr lang="zh-TW" altLang="en-US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數位發展部數位雲服務補助計畫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2023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取得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報價單產生系統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、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線上驗收系統專利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2021-2022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</a:t>
            </a:r>
            <a:r>
              <a:rPr lang="zh-TW" altLang="en-US" sz="1600" b="1" u="sng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榮獲國發基金、統証創投、崇越科技、英濟科技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投資入股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2022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榮獲經濟部第</a:t>
            </a:r>
            <a:r>
              <a:rPr lang="en-US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21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屆新創事業獎</a:t>
            </a:r>
            <a:r>
              <a:rPr lang="en-US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-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金質獎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54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784</Words>
  <Application>Microsoft Office PowerPoint</Application>
  <PresentationFormat>寬螢幕</PresentationFormat>
  <Paragraphs>69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Noto Sans TC</vt:lpstr>
      <vt:lpstr>微軟正黑體</vt:lpstr>
      <vt:lpstr>標楷體</vt:lpstr>
      <vt:lpstr>Arial</vt:lpstr>
      <vt:lpstr>Calibri</vt:lpstr>
      <vt:lpstr>Calibri Light</vt:lpstr>
      <vt:lpstr>Noto Sans TC Bold</vt:lpstr>
      <vt:lpstr>Wingdings</vt:lpstr>
      <vt:lpstr>Office 佈景主題</vt:lpstr>
      <vt:lpstr>首頁&gt;主要強化我們跟其他平台的差異化,商模式不一樣的</vt:lpstr>
      <vt:lpstr>企業福委會特約廠商&gt;&gt;是否有可以報名的地方?</vt:lpstr>
      <vt:lpstr>關於我們調整</vt:lpstr>
      <vt:lpstr>PowerPoint 簡報</vt:lpstr>
      <vt:lpstr>未來展望&gt;改&gt;我們的願景</vt:lpstr>
      <vt:lpstr>關於我們-公司里程碑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Stacy Chen</dc:creator>
  <cp:lastModifiedBy>Stacy Chen</cp:lastModifiedBy>
  <cp:revision>3</cp:revision>
  <dcterms:created xsi:type="dcterms:W3CDTF">2026-07-16T07:54:05Z</dcterms:created>
  <dcterms:modified xsi:type="dcterms:W3CDTF">2026-07-16T08:30:50Z</dcterms:modified>
</cp:coreProperties>
</file>