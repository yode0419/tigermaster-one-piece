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76138526" r:id="rId2"/>
    <p:sldId id="2076138527" r:id="rId3"/>
    <p:sldId id="2076138524" r:id="rId4"/>
    <p:sldId id="2076138529" r:id="rId5"/>
    <p:sldId id="2076138530" r:id="rId6"/>
    <p:sldId id="2076138531" r:id="rId7"/>
    <p:sldId id="2076138523" r:id="rId8"/>
    <p:sldId id="2076138532" r:id="rId9"/>
    <p:sldId id="2076138528" r:id="rId10"/>
    <p:sldId id="2076138533" r:id="rId11"/>
    <p:sldId id="2076138534" r:id="rId12"/>
    <p:sldId id="2076138535" r:id="rId13"/>
    <p:sldId id="2076138517" r:id="rId14"/>
    <p:sldId id="2076138518" r:id="rId15"/>
    <p:sldId id="2076138521" r:id="rId16"/>
    <p:sldId id="2076138520" r:id="rId17"/>
    <p:sldId id="2076138519" r:id="rId18"/>
    <p:sldId id="2076138516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7DE6BC-E7A3-B7CA-B4EE-CD3F7D44B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3409F36-383C-54FC-F774-53963CCF9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FBAADA-5A7D-6E97-6A95-82A53BE7A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5C1051-564C-4F2E-D457-7DF03C98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F495C3-FCC9-2D21-B044-15539807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6764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66A3A4-8713-E820-C1B7-17181600F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36D8A4-F9C2-74A0-88C0-4E7C3FA52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62F5E5-9282-5540-6F62-6248A3393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9926AA-9A7E-EBD9-571B-2DF90C2AD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2871C6-27BA-6E37-779C-16D1F8C8F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052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9137A1-E351-7A0C-92E8-01C05126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673796F-6417-7BBF-8D7B-85113436D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FF35F0-289A-DB66-D889-E519DB507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7C1E44-7DB0-6317-FCB4-A4F0AD43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11AD7B-92D7-791A-D152-1B9B7998A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982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0FCB60-3B86-C31D-AFF2-E7738B9E2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E64C30-48B8-D276-D0D1-B207D48AD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9198D08-DF6D-1B0A-50D4-C75F99DE4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CD80F19-0EFE-2F02-ED2C-CC28DD7B3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46E6A1-1415-347D-7BD4-42692399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DAFD3E8-4174-E3FF-CA89-D0C4D927F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4133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993233-80B5-A628-3B89-AF6FF5E8D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A30C07-1B8A-3AB5-7EBE-E9A6C905E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0E4319-FFD4-9972-6AC5-C7B57C309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75EEBEA-535C-877A-6956-81834833D9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3E3A1E7-7E9A-D2F3-FEEC-00FC16FDA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8E8128F-35B5-7A22-3B18-4FA0B3BD3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85FC4DD-C254-3CA0-CC94-7EEDC6085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642F4EF-5EDA-AD87-A4FD-02B601F0F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1391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2A9CE0-4771-1254-F4BC-470CC451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6E94C5D-3BD6-8E95-8B1B-33CD5D12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7D29B26-9CA7-E268-FE9A-25843893B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54ACD51-5F87-96DC-A86B-8DE4B5F8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813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5D4F29E-D59C-2692-11C6-19A7F6192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07B7E4B-E318-9121-D7FA-404E7743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5A4F61-7563-2EDE-04D1-41FD34AA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4926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EDE05D-B0AF-82F6-A868-CC9233BD0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25E62B-8FCC-32D9-8007-642F601D0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36FE8ED-DEB5-CF22-6CA5-02B68D783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035F3CC-2BEB-83B2-ADCE-81DC9C4FA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71E6029-B1BF-FBD4-5C8F-B417A665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FF5ABB-4875-B8BE-2B4A-FC0F3A381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5313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9EAE6C-2749-9CA2-5651-6C906D97B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E8BCF2F-9A01-A17A-024C-4F4CD024EA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9850649-9C30-329C-A8D9-4DBE6218C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E428020-D701-122E-29FD-E1F3EE46B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D6202CF-FA86-51AB-42BB-519489508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248DED8-E0E4-3DD4-FF90-FDFD973D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114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DDDC64-944A-0580-BB6E-59B0880F5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5A43D9F-AA1C-C90B-E1DA-2EBC52CC2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70C887-7950-D9D6-93F1-A93A908F0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1EA7FC-14FA-CC1E-0E56-E47884725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0801B4-F03F-DC3D-FC83-E5329B5FD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096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2F646EE-794D-C782-AD13-B57026ABFF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FF8A14-F192-0B81-7F87-1A2BDDEEC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6FB7C9-B6E3-0E6D-D132-6B367D38C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DBDB-F3E8-4903-9A71-6CB37332ED3C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0E7543-F86D-8E9F-DDB4-5BDDEF9B3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980EB7-501D-566A-2E60-530346989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5181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40C4F14-CC47-D5CC-2400-77766EDAC1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3602" y="154820"/>
            <a:ext cx="1157857" cy="337312"/>
          </a:xfrm>
          <a:prstGeom prst="rect">
            <a:avLst/>
          </a:prstGeom>
        </p:spPr>
      </p:pic>
      <p:sp>
        <p:nvSpPr>
          <p:cNvPr id="6" name="標題 5">
            <a:extLst>
              <a:ext uri="{FF2B5EF4-FFF2-40B4-BE49-F238E27FC236}">
                <a16:creationId xmlns:a16="http://schemas.microsoft.com/office/drawing/2014/main" id="{C3D396C5-9BCC-398B-4279-450269332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6953"/>
            <a:ext cx="9418561" cy="562572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110182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E093BB1-7CBB-37C1-4077-4DB3C0E70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311F7D1-7C02-5165-3AF9-EE7B1B2E6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2E0EED-7DBF-5B45-5808-CF05167F4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2DBDB-F3E8-4903-9A71-6CB37332ED3C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1F36BC-E2F8-7719-E110-4BDAA6B60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3E51CC-7060-9D90-FA2D-476B38D2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ED840-8753-4D8A-A6F4-D930AEEDA0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9508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BAC63-723C-5140-0223-13130D388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ABBCBF-8B69-2D88-6C87-8AEB57D86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首頁</a:t>
            </a:r>
            <a:r>
              <a:rPr lang="en-US" altLang="zh-TW" dirty="0"/>
              <a:t>(</a:t>
            </a:r>
            <a:r>
              <a:rPr lang="zh-TW" altLang="en-US" dirty="0"/>
              <a:t>現況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1918162-008D-AEDB-2C44-EF9D13CB1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580"/>
          <a:stretch>
            <a:fillRect/>
          </a:stretch>
        </p:blipFill>
        <p:spPr>
          <a:xfrm>
            <a:off x="5292430" y="381000"/>
            <a:ext cx="1706220" cy="63252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CE7EC96-9C02-DC29-92A8-5CF620251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784"/>
          <a:stretch>
            <a:fillRect/>
          </a:stretch>
        </p:blipFill>
        <p:spPr>
          <a:xfrm>
            <a:off x="7230692" y="997209"/>
            <a:ext cx="1706220" cy="570900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E00691C2-DD3C-5EA3-17C7-7D462F7FA4D6}"/>
              </a:ext>
            </a:extLst>
          </p:cNvPr>
          <p:cNvSpPr txBox="1"/>
          <p:nvPr/>
        </p:nvSpPr>
        <p:spPr>
          <a:xfrm>
            <a:off x="3606029" y="242399"/>
            <a:ext cx="1525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導航列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82BD415-2AB2-DC76-B6B4-1D3DE2276133}"/>
              </a:ext>
            </a:extLst>
          </p:cNvPr>
          <p:cNvSpPr txBox="1"/>
          <p:nvPr/>
        </p:nvSpPr>
        <p:spPr>
          <a:xfrm>
            <a:off x="3606029" y="713855"/>
            <a:ext cx="1525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輪播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Banner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B5E059-F0FB-B50B-B5BA-0E3CAD5D363D}"/>
              </a:ext>
            </a:extLst>
          </p:cNvPr>
          <p:cNvSpPr/>
          <p:nvPr/>
        </p:nvSpPr>
        <p:spPr>
          <a:xfrm>
            <a:off x="5224033" y="318789"/>
            <a:ext cx="1837209" cy="1542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14B6AB-16D7-1D91-FBE1-FC44D264900B}"/>
              </a:ext>
            </a:extLst>
          </p:cNvPr>
          <p:cNvSpPr/>
          <p:nvPr/>
        </p:nvSpPr>
        <p:spPr>
          <a:xfrm>
            <a:off x="5224033" y="492667"/>
            <a:ext cx="1837209" cy="716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6E8FBB-D86E-01BC-9A93-72A8A454B9F9}"/>
              </a:ext>
            </a:extLst>
          </p:cNvPr>
          <p:cNvSpPr/>
          <p:nvPr/>
        </p:nvSpPr>
        <p:spPr>
          <a:xfrm>
            <a:off x="5224033" y="1255094"/>
            <a:ext cx="1837209" cy="52219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B5F35B9-C911-6099-54F1-A66E2630B542}"/>
              </a:ext>
            </a:extLst>
          </p:cNvPr>
          <p:cNvSpPr txBox="1"/>
          <p:nvPr/>
        </p:nvSpPr>
        <p:spPr>
          <a:xfrm>
            <a:off x="3606029" y="1809022"/>
            <a:ext cx="1525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五大優勢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C69D63D-3507-E487-0F27-F8216D1F2490}"/>
              </a:ext>
            </a:extLst>
          </p:cNvPr>
          <p:cNvSpPr txBox="1"/>
          <p:nvPr/>
        </p:nvSpPr>
        <p:spPr>
          <a:xfrm>
            <a:off x="9123083" y="1057979"/>
            <a:ext cx="1525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下載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91B6DDB-1FD9-F173-DA1B-392CAC4B49E4}"/>
              </a:ext>
            </a:extLst>
          </p:cNvPr>
          <p:cNvSpPr/>
          <p:nvPr/>
        </p:nvSpPr>
        <p:spPr>
          <a:xfrm>
            <a:off x="7179107" y="899664"/>
            <a:ext cx="1837209" cy="716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8E8CA24-426A-2EEB-1548-087DFB8C1F39}"/>
              </a:ext>
            </a:extLst>
          </p:cNvPr>
          <p:cNvSpPr/>
          <p:nvPr/>
        </p:nvSpPr>
        <p:spPr>
          <a:xfrm>
            <a:off x="7179107" y="1645706"/>
            <a:ext cx="1837209" cy="8786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3D58B3C-0A3B-B523-34A5-2224DA90CFBF}"/>
              </a:ext>
            </a:extLst>
          </p:cNvPr>
          <p:cNvSpPr txBox="1"/>
          <p:nvPr/>
        </p:nvSpPr>
        <p:spPr>
          <a:xfrm>
            <a:off x="9123083" y="1809983"/>
            <a:ext cx="163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八大服務項目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0A099C7-4E63-82D3-B7EE-D9B07042232C}"/>
              </a:ext>
            </a:extLst>
          </p:cNvPr>
          <p:cNvSpPr/>
          <p:nvPr/>
        </p:nvSpPr>
        <p:spPr>
          <a:xfrm>
            <a:off x="7179107" y="2567154"/>
            <a:ext cx="1837209" cy="2058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832F52C-38D3-1A51-F00E-3866A4197B90}"/>
              </a:ext>
            </a:extLst>
          </p:cNvPr>
          <p:cNvSpPr txBox="1"/>
          <p:nvPr/>
        </p:nvSpPr>
        <p:spPr>
          <a:xfrm>
            <a:off x="9123083" y="2770103"/>
            <a:ext cx="163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步驟流程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5EBF0A-526E-A541-F3CE-E7AD59B3E21D}"/>
              </a:ext>
            </a:extLst>
          </p:cNvPr>
          <p:cNvSpPr/>
          <p:nvPr/>
        </p:nvSpPr>
        <p:spPr>
          <a:xfrm>
            <a:off x="7179107" y="4684784"/>
            <a:ext cx="1837209" cy="7435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475062-BA47-A4EC-1173-E8FB2B1D5B94}"/>
              </a:ext>
            </a:extLst>
          </p:cNvPr>
          <p:cNvSpPr/>
          <p:nvPr/>
        </p:nvSpPr>
        <p:spPr>
          <a:xfrm>
            <a:off x="7179107" y="5489038"/>
            <a:ext cx="1837209" cy="4692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4555DC-F3BC-334F-8457-1E008E472C74}"/>
              </a:ext>
            </a:extLst>
          </p:cNvPr>
          <p:cNvSpPr/>
          <p:nvPr/>
        </p:nvSpPr>
        <p:spPr>
          <a:xfrm>
            <a:off x="7179107" y="6007701"/>
            <a:ext cx="1837209" cy="7579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318DD0A-0353-7846-4837-AA980A7CF569}"/>
              </a:ext>
            </a:extLst>
          </p:cNvPr>
          <p:cNvSpPr txBox="1"/>
          <p:nvPr/>
        </p:nvSpPr>
        <p:spPr>
          <a:xfrm>
            <a:off x="9123083" y="6127713"/>
            <a:ext cx="163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Footer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4BD5D26-0BB1-CCAA-89F2-AD03D8D06F3D}"/>
              </a:ext>
            </a:extLst>
          </p:cNvPr>
          <p:cNvSpPr txBox="1"/>
          <p:nvPr/>
        </p:nvSpPr>
        <p:spPr>
          <a:xfrm>
            <a:off x="9123083" y="4722500"/>
            <a:ext cx="163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客戶案例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D4162A4-7C6E-76E4-EAD3-AEA8AE089D45}"/>
              </a:ext>
            </a:extLst>
          </p:cNvPr>
          <p:cNvSpPr txBox="1"/>
          <p:nvPr/>
        </p:nvSpPr>
        <p:spPr>
          <a:xfrm>
            <a:off x="9123083" y="5581494"/>
            <a:ext cx="163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合作夥伴</a:t>
            </a:r>
          </a:p>
        </p:txBody>
      </p:sp>
    </p:spTree>
    <p:extLst>
      <p:ext uri="{BB962C8B-B14F-4D97-AF65-F5344CB8AC3E}">
        <p14:creationId xmlns:p14="http://schemas.microsoft.com/office/powerpoint/2010/main" val="3198459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B4F5D-F243-50AC-F4F9-249002DAC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9740A4-9D93-404F-95F0-A39E0DFC7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首頁</a:t>
            </a:r>
            <a:r>
              <a:rPr lang="en-US" altLang="zh-TW" dirty="0"/>
              <a:t>(</a:t>
            </a:r>
            <a:r>
              <a:rPr lang="zh-TW" altLang="en-US" dirty="0"/>
              <a:t>調整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A0C33C3-8A3A-2A51-0C5A-3F99D9C19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580"/>
          <a:stretch>
            <a:fillRect/>
          </a:stretch>
        </p:blipFill>
        <p:spPr>
          <a:xfrm>
            <a:off x="5292430" y="381000"/>
            <a:ext cx="1706220" cy="63252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0315406-AACF-92A3-BFFD-E29AC971B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784"/>
          <a:stretch>
            <a:fillRect/>
          </a:stretch>
        </p:blipFill>
        <p:spPr>
          <a:xfrm>
            <a:off x="7230692" y="997209"/>
            <a:ext cx="1706220" cy="570900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63F8161D-9084-0979-5712-10B0B7ED8F9E}"/>
              </a:ext>
            </a:extLst>
          </p:cNvPr>
          <p:cNvSpPr txBox="1"/>
          <p:nvPr/>
        </p:nvSpPr>
        <p:spPr>
          <a:xfrm>
            <a:off x="3606029" y="242399"/>
            <a:ext cx="1525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導航列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6EF7609-7351-B377-879E-616DC4A6AFA3}"/>
              </a:ext>
            </a:extLst>
          </p:cNvPr>
          <p:cNvSpPr txBox="1"/>
          <p:nvPr/>
        </p:nvSpPr>
        <p:spPr>
          <a:xfrm>
            <a:off x="3606029" y="713855"/>
            <a:ext cx="1525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輪播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Banner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A0BAAB-E387-7894-5BBE-321855229A2F}"/>
              </a:ext>
            </a:extLst>
          </p:cNvPr>
          <p:cNvSpPr/>
          <p:nvPr/>
        </p:nvSpPr>
        <p:spPr>
          <a:xfrm>
            <a:off x="5224033" y="318789"/>
            <a:ext cx="1837209" cy="1542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A424EFE-265F-63E2-6B69-43868F9F0013}"/>
              </a:ext>
            </a:extLst>
          </p:cNvPr>
          <p:cNvSpPr/>
          <p:nvPr/>
        </p:nvSpPr>
        <p:spPr>
          <a:xfrm>
            <a:off x="5224033" y="492667"/>
            <a:ext cx="1837209" cy="716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495BDE-F832-DF9C-A8AC-FB54C1764887}"/>
              </a:ext>
            </a:extLst>
          </p:cNvPr>
          <p:cNvSpPr/>
          <p:nvPr/>
        </p:nvSpPr>
        <p:spPr>
          <a:xfrm>
            <a:off x="5224033" y="1255094"/>
            <a:ext cx="1837209" cy="52219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34CC0BE-3707-20AD-7652-EC2015C1C569}"/>
              </a:ext>
            </a:extLst>
          </p:cNvPr>
          <p:cNvSpPr txBox="1"/>
          <p:nvPr/>
        </p:nvSpPr>
        <p:spPr>
          <a:xfrm>
            <a:off x="3606029" y="1809022"/>
            <a:ext cx="1525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五大優勢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7ABF083-3A0F-6807-E16A-616D5BBAE675}"/>
              </a:ext>
            </a:extLst>
          </p:cNvPr>
          <p:cNvSpPr txBox="1"/>
          <p:nvPr/>
        </p:nvSpPr>
        <p:spPr>
          <a:xfrm>
            <a:off x="9123083" y="1057979"/>
            <a:ext cx="1525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下載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2EC7C-180F-7FCC-504E-E2A0D1A86642}"/>
              </a:ext>
            </a:extLst>
          </p:cNvPr>
          <p:cNvSpPr/>
          <p:nvPr/>
        </p:nvSpPr>
        <p:spPr>
          <a:xfrm>
            <a:off x="7179107" y="899664"/>
            <a:ext cx="1837209" cy="716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D6D030-22BB-620F-C046-A0D456A3E0FD}"/>
              </a:ext>
            </a:extLst>
          </p:cNvPr>
          <p:cNvSpPr/>
          <p:nvPr/>
        </p:nvSpPr>
        <p:spPr>
          <a:xfrm>
            <a:off x="7179107" y="1645706"/>
            <a:ext cx="1837209" cy="8786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4AD96F7-0E6D-441C-9B4C-B71AF90E5B47}"/>
              </a:ext>
            </a:extLst>
          </p:cNvPr>
          <p:cNvSpPr txBox="1"/>
          <p:nvPr/>
        </p:nvSpPr>
        <p:spPr>
          <a:xfrm>
            <a:off x="9123083" y="1809983"/>
            <a:ext cx="163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八大服務項目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FFC1143-05A4-BA2A-9277-5C6C971FB6D0}"/>
              </a:ext>
            </a:extLst>
          </p:cNvPr>
          <p:cNvSpPr/>
          <p:nvPr/>
        </p:nvSpPr>
        <p:spPr>
          <a:xfrm>
            <a:off x="7179107" y="2567154"/>
            <a:ext cx="1837209" cy="2058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1799AFF-0CCB-25C9-DAA1-A959ECCB03BB}"/>
              </a:ext>
            </a:extLst>
          </p:cNvPr>
          <p:cNvSpPr txBox="1"/>
          <p:nvPr/>
        </p:nvSpPr>
        <p:spPr>
          <a:xfrm>
            <a:off x="9123083" y="2770103"/>
            <a:ext cx="163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步驟流程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A976FD4-26E8-9C45-758D-BCD7C2AA2B93}"/>
              </a:ext>
            </a:extLst>
          </p:cNvPr>
          <p:cNvSpPr txBox="1"/>
          <p:nvPr/>
        </p:nvSpPr>
        <p:spPr>
          <a:xfrm>
            <a:off x="9123083" y="4722500"/>
            <a:ext cx="163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客戶案例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092B1B-176A-3756-493E-610F1F2FB3E6}"/>
              </a:ext>
            </a:extLst>
          </p:cNvPr>
          <p:cNvSpPr/>
          <p:nvPr/>
        </p:nvSpPr>
        <p:spPr>
          <a:xfrm>
            <a:off x="7179107" y="4684784"/>
            <a:ext cx="1837209" cy="7435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F60A2ED-C3CE-28C7-F282-44826842B64A}"/>
              </a:ext>
            </a:extLst>
          </p:cNvPr>
          <p:cNvSpPr/>
          <p:nvPr/>
        </p:nvSpPr>
        <p:spPr>
          <a:xfrm>
            <a:off x="7179107" y="5489038"/>
            <a:ext cx="1837209" cy="4692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9B04A9E-43B4-332F-6C6A-5262AA855D25}"/>
              </a:ext>
            </a:extLst>
          </p:cNvPr>
          <p:cNvSpPr txBox="1"/>
          <p:nvPr/>
        </p:nvSpPr>
        <p:spPr>
          <a:xfrm>
            <a:off x="9123083" y="5581494"/>
            <a:ext cx="163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合作夥伴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48AFBD1-BD4A-E95A-71FE-3AAA8C2BA431}"/>
              </a:ext>
            </a:extLst>
          </p:cNvPr>
          <p:cNvSpPr/>
          <p:nvPr/>
        </p:nvSpPr>
        <p:spPr>
          <a:xfrm>
            <a:off x="7179107" y="6007701"/>
            <a:ext cx="1837209" cy="7579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FF3A86C-89D6-C4A6-DDFC-144230B99C72}"/>
              </a:ext>
            </a:extLst>
          </p:cNvPr>
          <p:cNvSpPr txBox="1"/>
          <p:nvPr/>
        </p:nvSpPr>
        <p:spPr>
          <a:xfrm>
            <a:off x="9123083" y="6127713"/>
            <a:ext cx="163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Footer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92861D-F00B-AE31-E975-D2AFDDFDF620}"/>
              </a:ext>
            </a:extLst>
          </p:cNvPr>
          <p:cNvSpPr/>
          <p:nvPr/>
        </p:nvSpPr>
        <p:spPr>
          <a:xfrm>
            <a:off x="1244555" y="1501465"/>
            <a:ext cx="2047874" cy="6151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品牌宣言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AFE7A4-0A3D-AF58-7A7E-A6343BB9B3E8}"/>
              </a:ext>
            </a:extLst>
          </p:cNvPr>
          <p:cNvSpPr/>
          <p:nvPr/>
        </p:nvSpPr>
        <p:spPr>
          <a:xfrm>
            <a:off x="1244555" y="2426612"/>
            <a:ext cx="2047874" cy="6151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商業模式差異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E22DDF-1043-FBA8-38AE-BED538488926}"/>
              </a:ext>
            </a:extLst>
          </p:cNvPr>
          <p:cNvSpPr/>
          <p:nvPr/>
        </p:nvSpPr>
        <p:spPr>
          <a:xfrm>
            <a:off x="10225627" y="5029107"/>
            <a:ext cx="1706221" cy="6151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企業福委會</a:t>
            </a: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704A539D-1A3C-3909-A9A2-4B8190C00E96}"/>
              </a:ext>
            </a:extLst>
          </p:cNvPr>
          <p:cNvSpPr/>
          <p:nvPr/>
        </p:nvSpPr>
        <p:spPr>
          <a:xfrm>
            <a:off x="3712676" y="1042873"/>
            <a:ext cx="678616" cy="436181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箭號: 向右 29">
            <a:extLst>
              <a:ext uri="{FF2B5EF4-FFF2-40B4-BE49-F238E27FC236}">
                <a16:creationId xmlns:a16="http://schemas.microsoft.com/office/drawing/2014/main" id="{49E4FCE7-EBF0-4F61-EDD9-C6392451ED1E}"/>
              </a:ext>
            </a:extLst>
          </p:cNvPr>
          <p:cNvSpPr/>
          <p:nvPr/>
        </p:nvSpPr>
        <p:spPr>
          <a:xfrm rot="10800000">
            <a:off x="9260500" y="5118572"/>
            <a:ext cx="678616" cy="436181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箭號: 向右 30">
            <a:extLst>
              <a:ext uri="{FF2B5EF4-FFF2-40B4-BE49-F238E27FC236}">
                <a16:creationId xmlns:a16="http://schemas.microsoft.com/office/drawing/2014/main" id="{A8426082-073B-AE01-D1A0-19E1E3B083C5}"/>
              </a:ext>
            </a:extLst>
          </p:cNvPr>
          <p:cNvSpPr/>
          <p:nvPr/>
        </p:nvSpPr>
        <p:spPr>
          <a:xfrm>
            <a:off x="4484430" y="1042873"/>
            <a:ext cx="678616" cy="436181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ED5DCFE-F60F-D0B9-50FC-6258ED561EC6}"/>
              </a:ext>
            </a:extLst>
          </p:cNvPr>
          <p:cNvSpPr txBox="1"/>
          <p:nvPr/>
        </p:nvSpPr>
        <p:spPr>
          <a:xfrm>
            <a:off x="9817778" y="5819651"/>
            <a:ext cx="1525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移除合作夥伴</a:t>
            </a:r>
          </a:p>
        </p:txBody>
      </p:sp>
    </p:spTree>
    <p:extLst>
      <p:ext uri="{BB962C8B-B14F-4D97-AF65-F5344CB8AC3E}">
        <p14:creationId xmlns:p14="http://schemas.microsoft.com/office/powerpoint/2010/main" val="176438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A38786-B99A-47C4-3C69-3EC6DD155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首頁 </a:t>
            </a:r>
            <a:r>
              <a:rPr lang="en-US" altLang="zh-TW" dirty="0"/>
              <a:t>– </a:t>
            </a:r>
            <a:r>
              <a:rPr lang="zh-TW" altLang="en-US" dirty="0"/>
              <a:t>新增</a:t>
            </a:r>
            <a:r>
              <a:rPr lang="en-US" altLang="zh-TW" dirty="0"/>
              <a:t>【</a:t>
            </a:r>
            <a:r>
              <a:rPr lang="zh-TW" altLang="en-US" dirty="0"/>
              <a:t>品牌宣言</a:t>
            </a:r>
            <a:r>
              <a:rPr lang="en-US" altLang="zh-TW" dirty="0"/>
              <a:t>】</a:t>
            </a:r>
            <a:r>
              <a:rPr lang="zh-TW" altLang="en-US" dirty="0"/>
              <a:t>區塊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EA732F6-E629-46DA-3F16-C9F44CE754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36" b="9079"/>
          <a:stretch>
            <a:fillRect/>
          </a:stretch>
        </p:blipFill>
        <p:spPr>
          <a:xfrm>
            <a:off x="607114" y="1409699"/>
            <a:ext cx="10956235" cy="28575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C64EF9CF-3170-77D0-1D04-3539D14B669F}"/>
              </a:ext>
            </a:extLst>
          </p:cNvPr>
          <p:cNvSpPr txBox="1"/>
          <p:nvPr/>
        </p:nvSpPr>
        <p:spPr>
          <a:xfrm>
            <a:off x="4031864" y="4597563"/>
            <a:ext cx="1785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捲動到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商業模式差異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4E70399-B4F3-72D6-BFAC-99A9B9AF8866}"/>
              </a:ext>
            </a:extLst>
          </p:cNvPr>
          <p:cNvSpPr txBox="1"/>
          <p:nvPr/>
        </p:nvSpPr>
        <p:spPr>
          <a:xfrm>
            <a:off x="2774389" y="4597562"/>
            <a:ext cx="1525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捲動到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下載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A7B365B-DFAA-8413-260C-80D8E85E26DF}"/>
              </a:ext>
            </a:extLst>
          </p:cNvPr>
          <p:cNvCxnSpPr>
            <a:cxnSpLocks/>
          </p:cNvCxnSpPr>
          <p:nvPr/>
        </p:nvCxnSpPr>
        <p:spPr>
          <a:xfrm>
            <a:off x="3600450" y="3886200"/>
            <a:ext cx="0" cy="647700"/>
          </a:xfrm>
          <a:prstGeom prst="straightConnector1">
            <a:avLst/>
          </a:prstGeom>
          <a:ln w="57150">
            <a:solidFill>
              <a:schemeClr val="accent5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F13A008-9E7C-C685-B82C-866C5C3F290D}"/>
              </a:ext>
            </a:extLst>
          </p:cNvPr>
          <p:cNvCxnSpPr>
            <a:cxnSpLocks/>
          </p:cNvCxnSpPr>
          <p:nvPr/>
        </p:nvCxnSpPr>
        <p:spPr>
          <a:xfrm>
            <a:off x="4924425" y="3886200"/>
            <a:ext cx="0" cy="647700"/>
          </a:xfrm>
          <a:prstGeom prst="straightConnector1">
            <a:avLst/>
          </a:prstGeom>
          <a:ln w="57150">
            <a:solidFill>
              <a:schemeClr val="accent5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DE367DC-2329-FB8E-2BA6-593859C2BB70}"/>
              </a:ext>
            </a:extLst>
          </p:cNvPr>
          <p:cNvSpPr txBox="1"/>
          <p:nvPr/>
        </p:nvSpPr>
        <p:spPr>
          <a:xfrm>
            <a:off x="6519430" y="5120782"/>
            <a:ext cx="4862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情感破題，先建立信任感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引導接續閱讀下方的細節說明、或直接下載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圖片未定，文案可調整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C7DF4ED-ED67-941A-51DA-3B9228F7D20B}"/>
              </a:ext>
            </a:extLst>
          </p:cNvPr>
          <p:cNvSpPr txBox="1"/>
          <p:nvPr/>
        </p:nvSpPr>
        <p:spPr>
          <a:xfrm>
            <a:off x="691589" y="5120782"/>
            <a:ext cx="1525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加入實績數字</a:t>
            </a:r>
            <a:b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會跳動的</a:t>
            </a:r>
            <a:r>
              <a: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4B5A637-71CE-794C-6F6A-5E3CEA3CEFAD}"/>
              </a:ext>
            </a:extLst>
          </p:cNvPr>
          <p:cNvSpPr txBox="1"/>
          <p:nvPr/>
        </p:nvSpPr>
        <p:spPr>
          <a:xfrm>
            <a:off x="691589" y="5982502"/>
            <a:ext cx="1867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加入客戶評價跑馬燈</a:t>
            </a:r>
          </a:p>
        </p:txBody>
      </p:sp>
    </p:spTree>
    <p:extLst>
      <p:ext uri="{BB962C8B-B14F-4D97-AF65-F5344CB8AC3E}">
        <p14:creationId xmlns:p14="http://schemas.microsoft.com/office/powerpoint/2010/main" val="108630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19C5F-225B-B2BC-3E2C-46A0CF35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687668-47BD-E93A-B742-ED9935014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首頁 </a:t>
            </a:r>
            <a:r>
              <a:rPr lang="en-US" altLang="zh-TW" dirty="0"/>
              <a:t>– </a:t>
            </a:r>
            <a:r>
              <a:rPr lang="zh-TW" altLang="en-US" dirty="0"/>
              <a:t>新增</a:t>
            </a:r>
            <a:r>
              <a:rPr lang="en-US" altLang="zh-TW" dirty="0"/>
              <a:t>【</a:t>
            </a:r>
            <a:r>
              <a:rPr lang="zh-TW" altLang="en-US" dirty="0"/>
              <a:t>商業模式差異</a:t>
            </a:r>
            <a:r>
              <a:rPr lang="en-US" altLang="zh-TW" dirty="0"/>
              <a:t>】</a:t>
            </a:r>
            <a:r>
              <a:rPr lang="zh-TW" altLang="en-US" dirty="0"/>
              <a:t>區塊</a:t>
            </a:r>
            <a:r>
              <a:rPr lang="en-US" altLang="zh-TW" dirty="0"/>
              <a:t>-1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5E9E584-DFD3-DACA-B699-F56A533346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81" t="3564" r="5234"/>
          <a:stretch>
            <a:fillRect/>
          </a:stretch>
        </p:blipFill>
        <p:spPr>
          <a:xfrm>
            <a:off x="1600200" y="1338032"/>
            <a:ext cx="8829502" cy="422668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AF033391-D44E-7745-5FCE-82B3E996A345}"/>
              </a:ext>
            </a:extLst>
          </p:cNvPr>
          <p:cNvSpPr txBox="1"/>
          <p:nvPr/>
        </p:nvSpPr>
        <p:spPr>
          <a:xfrm>
            <a:off x="7814830" y="5693223"/>
            <a:ext cx="2729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列出核心差異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下方接續比較表</a:t>
            </a:r>
          </a:p>
        </p:txBody>
      </p:sp>
    </p:spTree>
    <p:extLst>
      <p:ext uri="{BB962C8B-B14F-4D97-AF65-F5344CB8AC3E}">
        <p14:creationId xmlns:p14="http://schemas.microsoft.com/office/powerpoint/2010/main" val="2953945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503B-7388-D620-4C59-37928A69A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D116A2-669B-87F2-2D83-C28D0F2FA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首頁 </a:t>
            </a:r>
            <a:r>
              <a:rPr lang="en-US" altLang="zh-TW" dirty="0"/>
              <a:t>– </a:t>
            </a:r>
            <a:r>
              <a:rPr lang="zh-TW" altLang="en-US" dirty="0"/>
              <a:t>新增</a:t>
            </a:r>
            <a:r>
              <a:rPr lang="en-US" altLang="zh-TW" dirty="0"/>
              <a:t>【</a:t>
            </a:r>
            <a:r>
              <a:rPr lang="zh-TW" altLang="en-US" dirty="0"/>
              <a:t>商業模式差異</a:t>
            </a:r>
            <a:r>
              <a:rPr lang="en-US" altLang="zh-TW" dirty="0"/>
              <a:t>】</a:t>
            </a:r>
            <a:r>
              <a:rPr lang="zh-TW" altLang="en-US" dirty="0"/>
              <a:t>區塊</a:t>
            </a:r>
            <a:r>
              <a:rPr lang="en-US" altLang="zh-TW" dirty="0"/>
              <a:t>-2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91AA8C3-AFED-7936-AA36-DFBE73448789}"/>
              </a:ext>
            </a:extLst>
          </p:cNvPr>
          <p:cNvSpPr txBox="1"/>
          <p:nvPr/>
        </p:nvSpPr>
        <p:spPr>
          <a:xfrm>
            <a:off x="5857875" y="5887881"/>
            <a:ext cx="5351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比較表較容易看懂差異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若覺得寫他平台若太過針對侵略，可刪除此欄</a:t>
            </a:r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37B9FD54-DA98-6FCF-5632-1FE25A331E45}"/>
              </a:ext>
            </a:extLst>
          </p:cNvPr>
          <p:cNvGrpSpPr/>
          <p:nvPr/>
        </p:nvGrpSpPr>
        <p:grpSpPr>
          <a:xfrm>
            <a:off x="1641384" y="1209525"/>
            <a:ext cx="8909232" cy="4494603"/>
            <a:chOff x="1263468" y="1292133"/>
            <a:chExt cx="8909232" cy="4494603"/>
          </a:xfrm>
        </p:grpSpPr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94D1B0A7-F621-4195-BB09-BD651BCA3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3468" y="1292133"/>
              <a:ext cx="8909232" cy="4494603"/>
            </a:xfrm>
            <a:prstGeom prst="rect">
              <a:avLst/>
            </a:prstGeom>
            <a:ln>
              <a:solidFill>
                <a:schemeClr val="accent5"/>
              </a:solidFill>
            </a:ln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E1BDC2BF-813A-BB34-9F3A-B93B9478E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3468" y="1387995"/>
              <a:ext cx="8823507" cy="3890365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45E98553-2305-AA72-325B-4E975FF2A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19340" y="1504925"/>
              <a:ext cx="1971787" cy="438175"/>
            </a:xfrm>
            <a:prstGeom prst="rect">
              <a:avLst/>
            </a:prstGeom>
          </p:spPr>
        </p:pic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A6BF07DA-AA1D-87BF-500F-7B103A93F2C4}"/>
              </a:ext>
            </a:extLst>
          </p:cNvPr>
          <p:cNvSpPr txBox="1"/>
          <p:nvPr/>
        </p:nvSpPr>
        <p:spPr>
          <a:xfrm>
            <a:off x="214258" y="1575186"/>
            <a:ext cx="1603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新增比較項目：</a:t>
            </a:r>
            <a:b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快速找到師傅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82B6331-71EB-0D2C-3453-DA14E3FE30AC}"/>
              </a:ext>
            </a:extLst>
          </p:cNvPr>
          <p:cNvSpPr txBox="1"/>
          <p:nvPr/>
        </p:nvSpPr>
        <p:spPr>
          <a:xfrm>
            <a:off x="508171" y="3957142"/>
            <a:ext cx="1603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刷卡交易</a:t>
            </a:r>
          </a:p>
        </p:txBody>
      </p:sp>
    </p:spTree>
    <p:extLst>
      <p:ext uri="{BB962C8B-B14F-4D97-AF65-F5344CB8AC3E}">
        <p14:creationId xmlns:p14="http://schemas.microsoft.com/office/powerpoint/2010/main" val="3479916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AC9DC-4F2D-2710-A116-4D4A83B56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4020E4-48DA-95E1-FB49-156FD1E41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首頁 </a:t>
            </a:r>
            <a:r>
              <a:rPr lang="en-US" altLang="zh-TW" dirty="0"/>
              <a:t>– </a:t>
            </a:r>
            <a:r>
              <a:rPr lang="zh-TW" altLang="en-US" dirty="0"/>
              <a:t>新增</a:t>
            </a:r>
            <a:r>
              <a:rPr lang="en-US" altLang="zh-TW" dirty="0"/>
              <a:t>【</a:t>
            </a:r>
            <a:r>
              <a:rPr lang="zh-TW" altLang="en-US" dirty="0"/>
              <a:t>企業福委會</a:t>
            </a:r>
            <a:r>
              <a:rPr lang="en-US" altLang="zh-TW" dirty="0"/>
              <a:t>】</a:t>
            </a:r>
            <a:r>
              <a:rPr lang="zh-TW" altLang="en-US" dirty="0"/>
              <a:t>區塊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1506FFD-2A5A-1319-C561-52E28AC09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719" y="1482657"/>
            <a:ext cx="9418562" cy="33753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349A75C-0F81-4C85-9768-6C4629368FC7}"/>
              </a:ext>
            </a:extLst>
          </p:cNvPr>
          <p:cNvSpPr txBox="1"/>
          <p:nvPr/>
        </p:nvSpPr>
        <p:spPr>
          <a:xfrm>
            <a:off x="1602814" y="5045237"/>
            <a:ext cx="1525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連結到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表單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E372D089-97E9-DCCF-04FF-B7071D9D9D73}"/>
              </a:ext>
            </a:extLst>
          </p:cNvPr>
          <p:cNvCxnSpPr>
            <a:cxnSpLocks/>
          </p:cNvCxnSpPr>
          <p:nvPr/>
        </p:nvCxnSpPr>
        <p:spPr>
          <a:xfrm>
            <a:off x="2428875" y="4333875"/>
            <a:ext cx="0" cy="647700"/>
          </a:xfrm>
          <a:prstGeom prst="straightConnector1">
            <a:avLst/>
          </a:prstGeom>
          <a:ln w="57150">
            <a:solidFill>
              <a:schemeClr val="accent5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7EA12B82-095D-96BB-D306-07271F9A71D4}"/>
              </a:ext>
            </a:extLst>
          </p:cNvPr>
          <p:cNvSpPr txBox="1"/>
          <p:nvPr/>
        </p:nvSpPr>
        <p:spPr>
          <a:xfrm>
            <a:off x="4857750" y="5568457"/>
            <a:ext cx="6781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展示已合作的企業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logo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是否已正式同意可公開列名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CTA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連結到既有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google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表單，若活動結束可直接隱藏按鈕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C82457A-EAA7-9FC0-CB17-E8A6C2749F28}"/>
              </a:ext>
            </a:extLst>
          </p:cNvPr>
          <p:cNvSpPr txBox="1"/>
          <p:nvPr/>
        </p:nvSpPr>
        <p:spPr>
          <a:xfrm>
            <a:off x="1177364" y="5813587"/>
            <a:ext cx="1525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Navbar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也擺入口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1BE6033-062E-2AD3-3551-0E1C2F9507F8}"/>
              </a:ext>
            </a:extLst>
          </p:cNvPr>
          <p:cNvSpPr txBox="1"/>
          <p:nvPr/>
        </p:nvSpPr>
        <p:spPr>
          <a:xfrm>
            <a:off x="8427379" y="5190677"/>
            <a:ext cx="2830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遠傳還未知，其他都可以</a:t>
            </a:r>
          </a:p>
        </p:txBody>
      </p:sp>
    </p:spTree>
    <p:extLst>
      <p:ext uri="{BB962C8B-B14F-4D97-AF65-F5344CB8AC3E}">
        <p14:creationId xmlns:p14="http://schemas.microsoft.com/office/powerpoint/2010/main" val="2193518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756F21-7193-B2F0-EC69-7B44BD30F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關於我們</a:t>
            </a:r>
            <a:r>
              <a:rPr lang="en-US" altLang="zh-TW" dirty="0"/>
              <a:t>(</a:t>
            </a:r>
            <a:r>
              <a:rPr lang="zh-TW" altLang="en-US" dirty="0"/>
              <a:t>現況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4E53F02-6285-2480-954F-77DBD5341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248" y="368300"/>
            <a:ext cx="2714357" cy="63627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1C22335-5E0B-6399-D9A9-6243E07724F2}"/>
              </a:ext>
            </a:extLst>
          </p:cNvPr>
          <p:cNvSpPr txBox="1"/>
          <p:nvPr/>
        </p:nvSpPr>
        <p:spPr>
          <a:xfrm>
            <a:off x="5976106" y="242399"/>
            <a:ext cx="104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導航列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ECBA36-BBAB-47E1-53EB-263B652ED472}"/>
              </a:ext>
            </a:extLst>
          </p:cNvPr>
          <p:cNvSpPr/>
          <p:nvPr/>
        </p:nvSpPr>
        <p:spPr>
          <a:xfrm>
            <a:off x="7199596" y="317500"/>
            <a:ext cx="2830229" cy="186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B36226-38C1-6C45-25AD-65F20B41DD5D}"/>
              </a:ext>
            </a:extLst>
          </p:cNvPr>
          <p:cNvSpPr/>
          <p:nvPr/>
        </p:nvSpPr>
        <p:spPr>
          <a:xfrm>
            <a:off x="7199596" y="553598"/>
            <a:ext cx="2830229" cy="1237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16809D6-E138-B878-06E3-ABAFD47988EC}"/>
              </a:ext>
            </a:extLst>
          </p:cNvPr>
          <p:cNvSpPr txBox="1"/>
          <p:nvPr/>
        </p:nvSpPr>
        <p:spPr>
          <a:xfrm>
            <a:off x="5976106" y="875415"/>
            <a:ext cx="104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Banner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F315FA-CED8-F64A-5C99-1135968A7F56}"/>
              </a:ext>
            </a:extLst>
          </p:cNvPr>
          <p:cNvSpPr/>
          <p:nvPr/>
        </p:nvSpPr>
        <p:spPr>
          <a:xfrm>
            <a:off x="7199596" y="1825921"/>
            <a:ext cx="2830229" cy="9712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243BC54-C397-19CA-B19B-951BCDABD137}"/>
              </a:ext>
            </a:extLst>
          </p:cNvPr>
          <p:cNvSpPr txBox="1"/>
          <p:nvPr/>
        </p:nvSpPr>
        <p:spPr>
          <a:xfrm>
            <a:off x="5976106" y="2031115"/>
            <a:ext cx="110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核心人物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AB96F7-F969-6136-C524-887CF3523011}"/>
              </a:ext>
            </a:extLst>
          </p:cNvPr>
          <p:cNvSpPr/>
          <p:nvPr/>
        </p:nvSpPr>
        <p:spPr>
          <a:xfrm>
            <a:off x="7199596" y="2848003"/>
            <a:ext cx="2830229" cy="625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3DF42E5-C1AB-343F-7D14-B7AFFC9BE547}"/>
              </a:ext>
            </a:extLst>
          </p:cNvPr>
          <p:cNvSpPr txBox="1"/>
          <p:nvPr/>
        </p:nvSpPr>
        <p:spPr>
          <a:xfrm>
            <a:off x="5976106" y="2901065"/>
            <a:ext cx="110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核心價值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822667-AD87-43CD-883E-CFD0DF30E651}"/>
              </a:ext>
            </a:extLst>
          </p:cNvPr>
          <p:cNvSpPr/>
          <p:nvPr/>
        </p:nvSpPr>
        <p:spPr>
          <a:xfrm>
            <a:off x="7199596" y="3524250"/>
            <a:ext cx="2830229" cy="10732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521250-80F9-9D33-2D93-F0E73F90C689}"/>
              </a:ext>
            </a:extLst>
          </p:cNvPr>
          <p:cNvSpPr/>
          <p:nvPr/>
        </p:nvSpPr>
        <p:spPr>
          <a:xfrm>
            <a:off x="7199596" y="4648255"/>
            <a:ext cx="2830229" cy="8000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E9B33DE-3A03-62C5-441A-DFF29B06E6BA}"/>
              </a:ext>
            </a:extLst>
          </p:cNvPr>
          <p:cNvSpPr/>
          <p:nvPr/>
        </p:nvSpPr>
        <p:spPr>
          <a:xfrm>
            <a:off x="7199596" y="5499100"/>
            <a:ext cx="2830229" cy="1267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FFF1353-719B-CBA3-334F-B1791131B2B4}"/>
              </a:ext>
            </a:extLst>
          </p:cNvPr>
          <p:cNvSpPr txBox="1"/>
          <p:nvPr/>
        </p:nvSpPr>
        <p:spPr>
          <a:xfrm>
            <a:off x="5976106" y="3815465"/>
            <a:ext cx="110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品牌故事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A9EE391-BF9C-37AA-53F4-FA87ABF0B22F}"/>
              </a:ext>
            </a:extLst>
          </p:cNvPr>
          <p:cNvSpPr txBox="1"/>
          <p:nvPr/>
        </p:nvSpPr>
        <p:spPr>
          <a:xfrm>
            <a:off x="5976106" y="4863612"/>
            <a:ext cx="110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未來展望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6B3DF9F-A4F9-0A57-0E91-0ED3022706F2}"/>
              </a:ext>
            </a:extLst>
          </p:cNvPr>
          <p:cNvSpPr txBox="1"/>
          <p:nvPr/>
        </p:nvSpPr>
        <p:spPr>
          <a:xfrm>
            <a:off x="5976106" y="5797919"/>
            <a:ext cx="110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Footer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2389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52015-91DB-70B4-327B-A4D3EA969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306458-B1BD-55D0-4D38-422CA1E44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關於我們</a:t>
            </a:r>
            <a:r>
              <a:rPr lang="en-US" altLang="zh-TW" dirty="0"/>
              <a:t>(</a:t>
            </a:r>
            <a:r>
              <a:rPr lang="zh-TW" altLang="en-US" dirty="0"/>
              <a:t>調整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65F9CE9-C2B4-A7CF-DB35-27922A9D2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248" y="368300"/>
            <a:ext cx="2714357" cy="63627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582E771-DCBC-995E-2312-018C34041AB5}"/>
              </a:ext>
            </a:extLst>
          </p:cNvPr>
          <p:cNvSpPr txBox="1"/>
          <p:nvPr/>
        </p:nvSpPr>
        <p:spPr>
          <a:xfrm>
            <a:off x="5976106" y="242399"/>
            <a:ext cx="104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導航列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618C65-FAB0-31A8-EDE0-05DE3591D839}"/>
              </a:ext>
            </a:extLst>
          </p:cNvPr>
          <p:cNvSpPr/>
          <p:nvPr/>
        </p:nvSpPr>
        <p:spPr>
          <a:xfrm>
            <a:off x="7199596" y="317500"/>
            <a:ext cx="2830229" cy="186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93D147-6A36-89E4-D6F3-0BF8FD2D8A7D}"/>
              </a:ext>
            </a:extLst>
          </p:cNvPr>
          <p:cNvSpPr/>
          <p:nvPr/>
        </p:nvSpPr>
        <p:spPr>
          <a:xfrm>
            <a:off x="7199596" y="553598"/>
            <a:ext cx="2830229" cy="1237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644FDBE-0FCE-AB1F-8C5C-AB9839C99CBF}"/>
              </a:ext>
            </a:extLst>
          </p:cNvPr>
          <p:cNvSpPr txBox="1"/>
          <p:nvPr/>
        </p:nvSpPr>
        <p:spPr>
          <a:xfrm>
            <a:off x="5976106" y="875415"/>
            <a:ext cx="104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Banner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CADB9B-E33C-77D0-8219-0D6B75F02951}"/>
              </a:ext>
            </a:extLst>
          </p:cNvPr>
          <p:cNvSpPr/>
          <p:nvPr/>
        </p:nvSpPr>
        <p:spPr>
          <a:xfrm>
            <a:off x="7199596" y="1825921"/>
            <a:ext cx="2830229" cy="9712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184E288-CA2B-E98C-0A86-015605CA0DF4}"/>
              </a:ext>
            </a:extLst>
          </p:cNvPr>
          <p:cNvSpPr txBox="1"/>
          <p:nvPr/>
        </p:nvSpPr>
        <p:spPr>
          <a:xfrm>
            <a:off x="5976106" y="2031115"/>
            <a:ext cx="110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核心人物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2D3308-1899-6C95-8106-65B67F9C418B}"/>
              </a:ext>
            </a:extLst>
          </p:cNvPr>
          <p:cNvSpPr/>
          <p:nvPr/>
        </p:nvSpPr>
        <p:spPr>
          <a:xfrm>
            <a:off x="7199596" y="2848003"/>
            <a:ext cx="2830229" cy="625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034CDC0-8423-A6BF-18C3-5973B7A0F83E}"/>
              </a:ext>
            </a:extLst>
          </p:cNvPr>
          <p:cNvSpPr txBox="1"/>
          <p:nvPr/>
        </p:nvSpPr>
        <p:spPr>
          <a:xfrm>
            <a:off x="5976106" y="2901065"/>
            <a:ext cx="110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核心價值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0F168A-52B2-8EF1-8CA2-0A6B3F8EADB5}"/>
              </a:ext>
            </a:extLst>
          </p:cNvPr>
          <p:cNvSpPr/>
          <p:nvPr/>
        </p:nvSpPr>
        <p:spPr>
          <a:xfrm>
            <a:off x="7199596" y="3524250"/>
            <a:ext cx="2830229" cy="10732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6DDECC-0727-5202-9D25-7F61597B4538}"/>
              </a:ext>
            </a:extLst>
          </p:cNvPr>
          <p:cNvSpPr/>
          <p:nvPr/>
        </p:nvSpPr>
        <p:spPr>
          <a:xfrm>
            <a:off x="7199596" y="4648255"/>
            <a:ext cx="2830229" cy="8000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80D460-A621-F560-B409-EDED30A23CB7}"/>
              </a:ext>
            </a:extLst>
          </p:cNvPr>
          <p:cNvSpPr/>
          <p:nvPr/>
        </p:nvSpPr>
        <p:spPr>
          <a:xfrm>
            <a:off x="7199596" y="5499100"/>
            <a:ext cx="2830229" cy="1267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01FBABA-3DDA-EE6B-6003-2D153D8283E7}"/>
              </a:ext>
            </a:extLst>
          </p:cNvPr>
          <p:cNvSpPr txBox="1"/>
          <p:nvPr/>
        </p:nvSpPr>
        <p:spPr>
          <a:xfrm>
            <a:off x="5976106" y="3815465"/>
            <a:ext cx="110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品牌故事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C6A3270-0EBD-36D6-B657-F33899C4E116}"/>
              </a:ext>
            </a:extLst>
          </p:cNvPr>
          <p:cNvSpPr txBox="1"/>
          <p:nvPr/>
        </p:nvSpPr>
        <p:spPr>
          <a:xfrm>
            <a:off x="5976106" y="4863612"/>
            <a:ext cx="110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未來展望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B299E10-BF49-1DA6-5C0B-06F20261F0BF}"/>
              </a:ext>
            </a:extLst>
          </p:cNvPr>
          <p:cNvSpPr txBox="1"/>
          <p:nvPr/>
        </p:nvSpPr>
        <p:spPr>
          <a:xfrm>
            <a:off x="5976106" y="5797919"/>
            <a:ext cx="110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Footer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8AAA55-839A-1C4A-9FC0-46B654AAA2CC}"/>
              </a:ext>
            </a:extLst>
          </p:cNvPr>
          <p:cNvSpPr/>
          <p:nvPr/>
        </p:nvSpPr>
        <p:spPr>
          <a:xfrm>
            <a:off x="3115172" y="1874974"/>
            <a:ext cx="2047874" cy="6151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創辦人的話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FDD189-6046-DF17-AB4E-3418C28BE8DC}"/>
              </a:ext>
            </a:extLst>
          </p:cNvPr>
          <p:cNvSpPr/>
          <p:nvPr/>
        </p:nvSpPr>
        <p:spPr>
          <a:xfrm>
            <a:off x="3115172" y="2781354"/>
            <a:ext cx="2047874" cy="6151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核心價值</a:t>
            </a:r>
            <a:b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文案修改</a:t>
            </a: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8DBF47-3726-BE95-3E17-8D68696B6630}"/>
              </a:ext>
            </a:extLst>
          </p:cNvPr>
          <p:cNvSpPr/>
          <p:nvPr/>
        </p:nvSpPr>
        <p:spPr>
          <a:xfrm>
            <a:off x="4048126" y="5448301"/>
            <a:ext cx="2047874" cy="6151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公司里程碑</a:t>
            </a:r>
          </a:p>
        </p:txBody>
      </p:sp>
      <p:sp>
        <p:nvSpPr>
          <p:cNvPr id="25" name="箭號: 向右 24">
            <a:extLst>
              <a:ext uri="{FF2B5EF4-FFF2-40B4-BE49-F238E27FC236}">
                <a16:creationId xmlns:a16="http://schemas.microsoft.com/office/drawing/2014/main" id="{F1A103DB-C31E-E7CF-D17A-8986131C5DAD}"/>
              </a:ext>
            </a:extLst>
          </p:cNvPr>
          <p:cNvSpPr/>
          <p:nvPr/>
        </p:nvSpPr>
        <p:spPr>
          <a:xfrm>
            <a:off x="5297490" y="1994388"/>
            <a:ext cx="678616" cy="436181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箭號: 向右 28">
            <a:extLst>
              <a:ext uri="{FF2B5EF4-FFF2-40B4-BE49-F238E27FC236}">
                <a16:creationId xmlns:a16="http://schemas.microsoft.com/office/drawing/2014/main" id="{D079620E-2FB7-AFCE-3DA2-3E2D8B589D25}"/>
              </a:ext>
            </a:extLst>
          </p:cNvPr>
          <p:cNvSpPr/>
          <p:nvPr/>
        </p:nvSpPr>
        <p:spPr>
          <a:xfrm>
            <a:off x="5297490" y="2861171"/>
            <a:ext cx="678616" cy="436181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27C5DA7-36CA-38C0-3D02-DC66D059E3E1}"/>
              </a:ext>
            </a:extLst>
          </p:cNvPr>
          <p:cNvSpPr/>
          <p:nvPr/>
        </p:nvSpPr>
        <p:spPr>
          <a:xfrm>
            <a:off x="3115172" y="4682229"/>
            <a:ext cx="2047874" cy="6151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我們的願景</a:t>
            </a:r>
          </a:p>
        </p:txBody>
      </p:sp>
      <p:sp>
        <p:nvSpPr>
          <p:cNvPr id="31" name="箭號: 向右 30">
            <a:extLst>
              <a:ext uri="{FF2B5EF4-FFF2-40B4-BE49-F238E27FC236}">
                <a16:creationId xmlns:a16="http://schemas.microsoft.com/office/drawing/2014/main" id="{C9EDE446-3583-AE0E-84C9-F7B642E924B4}"/>
              </a:ext>
            </a:extLst>
          </p:cNvPr>
          <p:cNvSpPr/>
          <p:nvPr/>
        </p:nvSpPr>
        <p:spPr>
          <a:xfrm>
            <a:off x="5297490" y="4771694"/>
            <a:ext cx="678616" cy="43618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箭號: 向右 31">
            <a:extLst>
              <a:ext uri="{FF2B5EF4-FFF2-40B4-BE49-F238E27FC236}">
                <a16:creationId xmlns:a16="http://schemas.microsoft.com/office/drawing/2014/main" id="{1A0EC4DB-F862-59A4-820F-F9E72AC00A43}"/>
              </a:ext>
            </a:extLst>
          </p:cNvPr>
          <p:cNvSpPr/>
          <p:nvPr/>
        </p:nvSpPr>
        <p:spPr>
          <a:xfrm>
            <a:off x="6335221" y="5304942"/>
            <a:ext cx="678616" cy="436181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2619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10D2-D1D4-2340-7216-367A2F678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A1D6CF7-9D43-00B5-9181-3E0BAE9C8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323838"/>
            <a:ext cx="7372729" cy="53152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A3F19A6-F1EE-F68B-8DDF-36EC31789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關於我們 </a:t>
            </a:r>
            <a:r>
              <a:rPr lang="en-US" altLang="zh-TW" dirty="0"/>
              <a:t>– </a:t>
            </a:r>
            <a:r>
              <a:rPr lang="zh-TW" altLang="en-US" dirty="0"/>
              <a:t>創辦人的話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0C055C6-A762-1EAC-C762-E21E60BAD081}"/>
              </a:ext>
            </a:extLst>
          </p:cNvPr>
          <p:cNvSpPr txBox="1"/>
          <p:nvPr/>
        </p:nvSpPr>
        <p:spPr>
          <a:xfrm>
            <a:off x="8614930" y="4602081"/>
            <a:ext cx="3100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第一人稱敘事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照片是否使用官網舊照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BEEE42A-7648-C24A-8075-EB821CAEDF8F}"/>
              </a:ext>
            </a:extLst>
          </p:cNvPr>
          <p:cNvSpPr txBox="1"/>
          <p:nvPr/>
        </p:nvSpPr>
        <p:spPr>
          <a:xfrm>
            <a:off x="10827708" y="5248412"/>
            <a:ext cx="1052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用舊照</a:t>
            </a:r>
          </a:p>
        </p:txBody>
      </p:sp>
    </p:spTree>
    <p:extLst>
      <p:ext uri="{BB962C8B-B14F-4D97-AF65-F5344CB8AC3E}">
        <p14:creationId xmlns:p14="http://schemas.microsoft.com/office/powerpoint/2010/main" val="1316298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A10F0-E731-22CC-5B97-3DF3EFC98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AB6303-0795-AB0D-52E7-9E2930B52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關於我們 </a:t>
            </a:r>
            <a:r>
              <a:rPr lang="en-US" altLang="zh-TW" dirty="0"/>
              <a:t>– </a:t>
            </a:r>
            <a:r>
              <a:rPr lang="zh-TW" altLang="en-US" dirty="0"/>
              <a:t>核心價值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00748D7-FBEA-E694-9CA0-5397D43DB771}"/>
              </a:ext>
            </a:extLst>
          </p:cNvPr>
          <p:cNvSpPr txBox="1"/>
          <p:nvPr/>
        </p:nvSpPr>
        <p:spPr>
          <a:xfrm>
            <a:off x="4776355" y="5417531"/>
            <a:ext cx="3100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深色背景營造氛圍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半透明圖片未定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3ABD144-E538-57BC-D631-06E7C97BC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228" y="1440469"/>
            <a:ext cx="9785544" cy="3538926"/>
          </a:xfrm>
          <a:prstGeom prst="rect">
            <a:avLst/>
          </a:prstGeom>
          <a:ln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2148688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BE047-5344-4050-60CE-A2D2D6E3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260E12-43BF-3B58-942A-23B83BF7D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關於我們 </a:t>
            </a:r>
            <a:r>
              <a:rPr lang="en-US" altLang="zh-TW" dirty="0"/>
              <a:t>– </a:t>
            </a:r>
            <a:r>
              <a:rPr lang="zh-TW" altLang="en-US" dirty="0"/>
              <a:t>我們的願景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DEC1B43-301D-6DAB-4450-9FACCF2ED333}"/>
              </a:ext>
            </a:extLst>
          </p:cNvPr>
          <p:cNvSpPr txBox="1"/>
          <p:nvPr/>
        </p:nvSpPr>
        <p:spPr>
          <a:xfrm>
            <a:off x="4452505" y="5402180"/>
            <a:ext cx="3100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圖片未定，文案可調整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E0B76DE-720C-40B8-F0FA-008CA7E2E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561" y="1511484"/>
            <a:ext cx="9202877" cy="3588737"/>
          </a:xfrm>
          <a:prstGeom prst="rect">
            <a:avLst/>
          </a:prstGeom>
          <a:ln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3440328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3CF1F-57A3-67CD-0D21-D02425D9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21DC3-4465-7859-DA2A-30981A7B3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關於我們 </a:t>
            </a:r>
            <a:r>
              <a:rPr lang="en-US" altLang="zh-TW" dirty="0"/>
              <a:t>– </a:t>
            </a:r>
            <a:r>
              <a:rPr lang="zh-TW" altLang="en-US" dirty="0"/>
              <a:t>公司里程碑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A7B3044-CCBA-CB26-4A29-68400BDADA0D}"/>
              </a:ext>
            </a:extLst>
          </p:cNvPr>
          <p:cNvSpPr txBox="1"/>
          <p:nvPr/>
        </p:nvSpPr>
        <p:spPr>
          <a:xfrm>
            <a:off x="8548255" y="4563981"/>
            <a:ext cx="3100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醒目數字展示實績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時間軸展示發展過程與未來藍圖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8511FF4D-C07F-3428-FBF3-F4903EA9C411}"/>
              </a:ext>
            </a:extLst>
          </p:cNvPr>
          <p:cNvGrpSpPr/>
          <p:nvPr/>
        </p:nvGrpSpPr>
        <p:grpSpPr>
          <a:xfrm>
            <a:off x="838201" y="1209524"/>
            <a:ext cx="7004244" cy="5358063"/>
            <a:chOff x="838201" y="1314299"/>
            <a:chExt cx="7004244" cy="5358063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86B063A6-8072-EBA9-9348-B29042A78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918"/>
            <a:stretch>
              <a:fillRect/>
            </a:stretch>
          </p:blipFill>
          <p:spPr>
            <a:xfrm>
              <a:off x="838201" y="1314299"/>
              <a:ext cx="7004244" cy="5358063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F8DABE55-1181-F3A8-A762-9ABA8B222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86653"/>
            <a:stretch>
              <a:fillRect/>
            </a:stretch>
          </p:blipFill>
          <p:spPr>
            <a:xfrm>
              <a:off x="838201" y="1407541"/>
              <a:ext cx="7004244" cy="7291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27186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14828A0-8729-01E2-DC68-B96F7D3AC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highlight>
                  <a:srgbClr val="FFFF00"/>
                </a:highlight>
              </a:rPr>
              <a:t>首頁</a:t>
            </a:r>
            <a:r>
              <a:rPr lang="en-US" altLang="zh-TW" dirty="0">
                <a:highlight>
                  <a:srgbClr val="FFFF00"/>
                </a:highlight>
              </a:rPr>
              <a:t>&gt;</a:t>
            </a:r>
            <a:r>
              <a:rPr lang="zh-TW" altLang="en-US" dirty="0">
                <a:highlight>
                  <a:srgbClr val="FFFF00"/>
                </a:highlight>
              </a:rPr>
              <a:t>主要強化我們跟其他平台的差異化</a:t>
            </a:r>
            <a:r>
              <a:rPr lang="en-US" altLang="zh-TW" dirty="0">
                <a:highlight>
                  <a:srgbClr val="FFFF00"/>
                </a:highlight>
              </a:rPr>
              <a:t>,</a:t>
            </a:r>
            <a:r>
              <a:rPr lang="zh-TW" altLang="en-US" dirty="0">
                <a:highlight>
                  <a:srgbClr val="FFFF00"/>
                </a:highlight>
              </a:rPr>
              <a:t>商模式不一樣的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73B33D2-4131-9EF5-A0A9-44A80C7DCA61}"/>
              </a:ext>
            </a:extLst>
          </p:cNvPr>
          <p:cNvSpPr txBox="1"/>
          <p:nvPr/>
        </p:nvSpPr>
        <p:spPr>
          <a:xfrm>
            <a:off x="457199" y="1409733"/>
            <a:ext cx="1173480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找師傅最怕的不是找不到人，是出了問題沒有人負責。</a:t>
            </a:r>
          </a:p>
          <a:p>
            <a:r>
              <a:rPr lang="zh-TW" altLang="zh-TW" b="1" dirty="0"/>
              <a:t>師虎來了不只是幫您找師傅，</a:t>
            </a:r>
            <a:r>
              <a:rPr lang="zh-TW" altLang="en-US" b="1" dirty="0"/>
              <a:t>還</a:t>
            </a:r>
            <a:r>
              <a:rPr lang="zh-TW" altLang="zh-TW" b="1" dirty="0"/>
              <a:t>提供付款保障、施工協助、平台保固與售後服務，陪您安心完成每一項工程。</a:t>
            </a:r>
            <a:endParaRPr lang="zh-TW" altLang="zh-TW" dirty="0"/>
          </a:p>
          <a:p>
            <a:pPr>
              <a:buNone/>
            </a:pPr>
            <a:endParaRPr lang="zh-TW" altLang="zh-TW" dirty="0"/>
          </a:p>
          <a:p>
            <a:pPr>
              <a:buNone/>
            </a:pPr>
            <a:r>
              <a:rPr lang="zh-TW" altLang="zh-TW" b="1" dirty="0"/>
              <a:t>💳 全台唯一｜3 成訂金，7 成驗收滿意再付款</a:t>
            </a:r>
          </a:p>
          <a:p>
            <a:pPr>
              <a:buNone/>
            </a:pPr>
            <a:r>
              <a:rPr lang="zh-TW" altLang="en-US" dirty="0"/>
              <a:t>裝修</a:t>
            </a:r>
            <a:r>
              <a:rPr lang="zh-TW" altLang="zh-TW" dirty="0"/>
              <a:t>不用一開始就付</a:t>
            </a:r>
            <a:r>
              <a:rPr lang="zh-TW" altLang="en-US" dirty="0"/>
              <a:t>大筆</a:t>
            </a:r>
            <a:r>
              <a:rPr lang="zh-TW" altLang="zh-TW" dirty="0"/>
              <a:t>工程款，等工程完成、確認滿意後，再支付尾款，讓您的每一筆錢都更有保障。</a:t>
            </a:r>
            <a:endParaRPr lang="en-US" altLang="zh-TW" dirty="0"/>
          </a:p>
          <a:p>
            <a:pPr>
              <a:buNone/>
            </a:pPr>
            <a:endParaRPr lang="zh-TW" altLang="zh-TW" dirty="0"/>
          </a:p>
          <a:p>
            <a:pPr>
              <a:buNone/>
            </a:pPr>
            <a:r>
              <a:rPr lang="zh-TW" altLang="zh-TW" b="1" dirty="0"/>
              <a:t>👷 施工過程有人協助</a:t>
            </a:r>
          </a:p>
          <a:p>
            <a:pPr>
              <a:buNone/>
            </a:pPr>
            <a:r>
              <a:rPr lang="zh-TW" altLang="zh-TW" dirty="0"/>
              <a:t>施工中如果有任何問題，不用自己一直和師傅溝通，直接聯繫師虎來了，我們會協助處理與協調。</a:t>
            </a:r>
            <a:endParaRPr lang="en-US" altLang="zh-TW" dirty="0"/>
          </a:p>
          <a:p>
            <a:pPr>
              <a:buNone/>
            </a:pPr>
            <a:endParaRPr lang="zh-TW" altLang="zh-TW" dirty="0"/>
          </a:p>
          <a:p>
            <a:pPr>
              <a:buNone/>
            </a:pPr>
            <a:r>
              <a:rPr lang="zh-TW" altLang="zh-TW" b="1" dirty="0"/>
              <a:t>🛡️ 保固直接找師虎來了</a:t>
            </a:r>
          </a:p>
          <a:p>
            <a:pPr>
              <a:buNone/>
            </a:pPr>
            <a:r>
              <a:rPr lang="zh-TW" altLang="zh-TW" dirty="0"/>
              <a:t>保固期間有任何問題，不用擔心找不到師傅，直接聯繫師虎來了即可。</a:t>
            </a:r>
            <a:endParaRPr lang="en-US" altLang="zh-TW" dirty="0"/>
          </a:p>
          <a:p>
            <a:pPr>
              <a:buNone/>
            </a:pPr>
            <a:endParaRPr lang="zh-TW" altLang="zh-TW" dirty="0"/>
          </a:p>
          <a:p>
            <a:pPr>
              <a:buNone/>
            </a:pPr>
            <a:r>
              <a:rPr lang="zh-TW" altLang="zh-TW" b="1" dirty="0"/>
              <a:t>💳 每一筆付款都有保障</a:t>
            </a:r>
          </a:p>
          <a:p>
            <a:pPr>
              <a:buNone/>
            </a:pPr>
            <a:r>
              <a:rPr lang="zh-TW" altLang="zh-TW" dirty="0"/>
              <a:t>所有工程款皆透過平台管理，不需私下付款給陌生師傅，交易更安心、更透明。</a:t>
            </a:r>
            <a:endParaRPr lang="en-US" altLang="zh-TW" dirty="0"/>
          </a:p>
          <a:p>
            <a:pPr>
              <a:buNone/>
            </a:pPr>
            <a:endParaRPr lang="zh-TW" altLang="zh-TW" dirty="0"/>
          </a:p>
          <a:p>
            <a:pPr>
              <a:buNone/>
            </a:pPr>
            <a:r>
              <a:rPr lang="zh-TW" altLang="zh-TW" b="1" dirty="0"/>
              <a:t>🧾 發票由師虎來了開立</a:t>
            </a:r>
          </a:p>
          <a:p>
            <a:pPr>
              <a:buNone/>
            </a:pPr>
            <a:r>
              <a:rPr lang="zh-TW" altLang="zh-TW" dirty="0"/>
              <a:t>所有工程皆由師虎來了統一開立發票，付款更透明，報帳也更方便。</a:t>
            </a:r>
          </a:p>
          <a:p>
            <a:pPr>
              <a:buNone/>
            </a:pPr>
            <a:br>
              <a:rPr lang="zh-TW" altLang="zh-TW" dirty="0"/>
            </a:br>
            <a:endParaRPr lang="zh-TW" altLang="zh-TW" dirty="0"/>
          </a:p>
          <a:p>
            <a:pPr>
              <a:buNone/>
            </a:pPr>
            <a:r>
              <a:rPr lang="zh-TW" altLang="zh-TW" b="1" dirty="0"/>
              <a:t>最後一句（放在最下面）</a:t>
            </a:r>
          </a:p>
          <a:p>
            <a:pPr>
              <a:buNone/>
            </a:pPr>
            <a:r>
              <a:rPr lang="zh-TW" altLang="zh-TW" b="1" dirty="0"/>
              <a:t>我們不是把一位師傅介紹給您，而是對整個</a:t>
            </a:r>
            <a:r>
              <a:rPr lang="zh-TW" altLang="en-US" b="1" dirty="0"/>
              <a:t>修繕</a:t>
            </a:r>
            <a:r>
              <a:rPr lang="zh-TW" altLang="zh-TW" b="1" dirty="0"/>
              <a:t>服務負責。</a:t>
            </a: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2548121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8EEBC-617F-BF1C-0B70-09E0B05E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企業福委會特約廠商</a:t>
            </a:r>
            <a:r>
              <a:rPr lang="en-US" altLang="zh-TW" dirty="0"/>
              <a:t>&gt;&gt;</a:t>
            </a:r>
            <a:r>
              <a:rPr lang="zh-TW" altLang="en-US" dirty="0"/>
              <a:t>是否有可以報名的地方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FD7FE18-F704-7CA2-5711-F8775218E8C9}"/>
              </a:ext>
            </a:extLst>
          </p:cNvPr>
          <p:cNvSpPr txBox="1"/>
          <p:nvPr/>
        </p:nvSpPr>
        <p:spPr>
          <a:xfrm>
            <a:off x="1876425" y="1924050"/>
            <a:ext cx="22621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統一證券</a:t>
            </a:r>
            <a:endParaRPr lang="en-US" altLang="zh-TW" dirty="0"/>
          </a:p>
          <a:p>
            <a:r>
              <a:rPr lang="zh-TW" altLang="en-US" dirty="0"/>
              <a:t>崇越科技</a:t>
            </a:r>
            <a:endParaRPr lang="en-US" altLang="zh-TW" dirty="0"/>
          </a:p>
          <a:p>
            <a:r>
              <a:rPr lang="zh-TW" altLang="en-US" dirty="0"/>
              <a:t>英濟科技</a:t>
            </a:r>
            <a:endParaRPr lang="en-US" altLang="zh-TW" dirty="0"/>
          </a:p>
          <a:p>
            <a:r>
              <a:rPr lang="zh-TW" altLang="en-US" dirty="0"/>
              <a:t>中華電信職工福委會</a:t>
            </a:r>
            <a:endParaRPr lang="en-US" altLang="zh-TW" dirty="0"/>
          </a:p>
          <a:p>
            <a:r>
              <a:rPr lang="zh-TW" altLang="en-US" dirty="0"/>
              <a:t>遠傳電信</a:t>
            </a:r>
            <a:endParaRPr lang="en-US" altLang="zh-TW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03D8443-4E08-C616-16DB-EE76991CD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518" y="3705141"/>
            <a:ext cx="7214717" cy="250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89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447202-2678-42F8-097B-5211BA1BE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/>
              <a:t>關於我們</a:t>
            </a:r>
            <a:r>
              <a:rPr lang="zh-TW" altLang="en-US"/>
              <a:t>調整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CC1A12E-38BC-C2E1-0782-272056623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731" y="3495988"/>
            <a:ext cx="4852679" cy="304847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16E2F70-AB28-19FE-DCAE-C151294D9A46}"/>
              </a:ext>
            </a:extLst>
          </p:cNvPr>
          <p:cNvSpPr txBox="1"/>
          <p:nvPr/>
        </p:nvSpPr>
        <p:spPr>
          <a:xfrm>
            <a:off x="838200" y="1421531"/>
            <a:ext cx="80746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1" dirty="0"/>
              <a:t>關於我們｜師虎來了</a:t>
            </a:r>
          </a:p>
          <a:p>
            <a:r>
              <a:rPr lang="zh-TW" altLang="zh-TW" dirty="0"/>
              <a:t>每一個家，都值得被好好照顧。</a:t>
            </a:r>
          </a:p>
          <a:p>
            <a:r>
              <a:rPr lang="zh-TW" altLang="zh-TW" dirty="0"/>
              <a:t>師虎來了希望改變大家對修繕市場的印象，透過科技、制度與專業服務，讓找師傅不再靠運氣，而是一件安心、放心的事。我們相信，真正的修繕，不只是完成工程，而是建立一份長久的信任。</a:t>
            </a:r>
          </a:p>
          <a:p>
            <a:endParaRPr lang="zh-TW" altLang="zh-TW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CB550D7-D9C8-B22E-BE9C-19569FF01CFC}"/>
              </a:ext>
            </a:extLst>
          </p:cNvPr>
          <p:cNvSpPr txBox="1"/>
          <p:nvPr/>
        </p:nvSpPr>
        <p:spPr>
          <a:xfrm>
            <a:off x="838200" y="3682144"/>
            <a:ext cx="60943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1" dirty="0"/>
              <a:t>創辦人的話</a:t>
            </a:r>
          </a:p>
          <a:p>
            <a:r>
              <a:rPr lang="zh-TW" altLang="zh-TW" dirty="0"/>
              <a:t>每一個家，都承載著一個家庭的生活。</a:t>
            </a:r>
          </a:p>
          <a:p>
            <a:r>
              <a:rPr lang="zh-TW" altLang="zh-TW" dirty="0"/>
              <a:t>我創立師虎來了，不只是想打造一個修繕平台，而是希望建立一個值得信賴的服務品牌。</a:t>
            </a:r>
          </a:p>
          <a:p>
            <a:r>
              <a:rPr lang="zh-TW" altLang="zh-TW" dirty="0"/>
              <a:t>讓消費者不用再為找師傅而擔心，讓認真工作的師傅能憑藉專業獲得更多信任，讓每一次修繕，都能成為一次安心的服務體驗。</a:t>
            </a:r>
          </a:p>
          <a:p>
            <a:r>
              <a:rPr lang="zh-TW" altLang="zh-TW" b="1" dirty="0"/>
              <a:t>這就是師虎來了成立的初衷，也是我們一直努力的方向。</a:t>
            </a:r>
            <a:endParaRPr lang="zh-TW" altLang="zh-TW" dirty="0"/>
          </a:p>
          <a:p>
            <a:r>
              <a:rPr lang="zh-TW" altLang="zh-TW" b="1" dirty="0"/>
              <a:t>陳洛婕</a:t>
            </a:r>
            <a:br>
              <a:rPr lang="zh-TW" altLang="zh-TW" dirty="0"/>
            </a:br>
            <a:r>
              <a:rPr lang="zh-TW" altLang="zh-TW" dirty="0"/>
              <a:t>創辦人暨董事長</a:t>
            </a:r>
          </a:p>
        </p:txBody>
      </p:sp>
    </p:spTree>
    <p:extLst>
      <p:ext uri="{BB962C8B-B14F-4D97-AF65-F5344CB8AC3E}">
        <p14:creationId xmlns:p14="http://schemas.microsoft.com/office/powerpoint/2010/main" val="2573873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9B7DDB-BAA0-C404-5144-BCCCB2A3A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3EDFD21-6B57-8A3C-DF06-742CAD08DBB1}"/>
              </a:ext>
            </a:extLst>
          </p:cNvPr>
          <p:cNvSpPr txBox="1"/>
          <p:nvPr/>
        </p:nvSpPr>
        <p:spPr>
          <a:xfrm>
            <a:off x="977202" y="1985948"/>
            <a:ext cx="60943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b="1" dirty="0"/>
              <a:t>我們相信</a:t>
            </a:r>
          </a:p>
          <a:p>
            <a:r>
              <a:rPr lang="zh-TW" altLang="zh-TW" dirty="0"/>
              <a:t>修繕，不該是一個人孤軍奮戰。</a:t>
            </a:r>
            <a:r>
              <a:rPr lang="zh-TW" altLang="zh-TW" b="1" dirty="0"/>
              <a:t>師虎來了，讓您的修繕過程，不再像是孤兒。</a:t>
            </a:r>
            <a:endParaRPr lang="zh-TW" altLang="zh-TW" dirty="0"/>
          </a:p>
          <a:p>
            <a:pPr>
              <a:buNone/>
            </a:pPr>
            <a:endParaRPr lang="zh-TW" altLang="zh-TW" dirty="0"/>
          </a:p>
          <a:p>
            <a:pPr>
              <a:buNone/>
            </a:pPr>
            <a:r>
              <a:rPr lang="zh-TW" altLang="zh-TW" dirty="0"/>
              <a:t>每一個案件，都有專屬專案管理師陪您處理，協助媒合合適的師傅、追蹤施工進度、協調施工問題，直到工程完成，並提供平台保固服務。</a:t>
            </a:r>
          </a:p>
          <a:p>
            <a:pPr>
              <a:buNone/>
            </a:pPr>
            <a:r>
              <a:rPr lang="zh-TW" altLang="zh-TW" dirty="0"/>
              <a:t>因為我們希望，您不用再擔心找不到人、沒有人協助、出了問題不知道該找誰。</a:t>
            </a:r>
          </a:p>
          <a:p>
            <a:pPr>
              <a:buNone/>
            </a:pPr>
            <a:r>
              <a:rPr lang="zh-TW" altLang="zh-TW" b="1" dirty="0"/>
              <a:t>師虎來了，不只是幫您找到師傅，而是陪您把工程做好。</a:t>
            </a:r>
            <a:endParaRPr lang="zh-TW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15EBAE7-90E9-3023-D5BC-65723AF9A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348791"/>
            <a:ext cx="6506750" cy="250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964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DE16D1-F9F2-C397-7977-E11EEF416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未來展望</a:t>
            </a:r>
            <a:r>
              <a:rPr lang="en-US" altLang="zh-TW" dirty="0"/>
              <a:t>&gt;</a:t>
            </a:r>
            <a:r>
              <a:rPr lang="zh-TW" altLang="en-US" dirty="0"/>
              <a:t>改</a:t>
            </a:r>
            <a:r>
              <a:rPr lang="en-US" altLang="zh-TW" dirty="0"/>
              <a:t>&gt;</a:t>
            </a:r>
            <a:r>
              <a:rPr lang="zh-TW" altLang="zh-TW" dirty="0"/>
              <a:t>我們的願景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73F3EE0-6190-BB0A-7028-6D84B8143D82}"/>
              </a:ext>
            </a:extLst>
          </p:cNvPr>
          <p:cNvSpPr txBox="1"/>
          <p:nvPr/>
        </p:nvSpPr>
        <p:spPr>
          <a:xfrm>
            <a:off x="626347" y="1752323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b="1" dirty="0"/>
              <a:t>我們想改變的，不只是修繕。</a:t>
            </a:r>
          </a:p>
          <a:p>
            <a:pPr>
              <a:buNone/>
            </a:pPr>
            <a:r>
              <a:rPr lang="zh-TW" altLang="zh-TW" dirty="0"/>
              <a:t>修繕只是開始。</a:t>
            </a:r>
          </a:p>
          <a:p>
            <a:pPr>
              <a:buNone/>
            </a:pPr>
            <a:r>
              <a:rPr lang="zh-TW" altLang="zh-TW" dirty="0"/>
              <a:t>未來，師虎來了將持續結合 AI、數位科技與企業合作，串聯更多居家生活服務，打造一個讓消費者</a:t>
            </a:r>
            <a:r>
              <a:rPr lang="zh-TW" altLang="zh-TW" b="1" dirty="0"/>
              <a:t>一次找到、一次解決、一次安心</a:t>
            </a:r>
            <a:r>
              <a:rPr lang="zh-TW" altLang="zh-TW" dirty="0"/>
              <a:t>的平台。</a:t>
            </a:r>
          </a:p>
          <a:p>
            <a:pPr>
              <a:buNone/>
            </a:pPr>
            <a:r>
              <a:rPr lang="zh-TW" altLang="zh-TW" dirty="0"/>
              <a:t>我們相信，好的服務不只是完成一項工程，而是讓每一個家庭，都能因為科技而享有更安心、更便利的生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D506E45-4C7D-AA85-4662-6EEE20B5B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481" y="3689804"/>
            <a:ext cx="5768221" cy="292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998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03D116A-A68F-AD15-8EA2-5703E2DCD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</a:rPr>
              <a:t>關於我們</a:t>
            </a:r>
            <a:r>
              <a:rPr lang="en-US" altLang="zh-TW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</a:rPr>
              <a:t>-</a:t>
            </a:r>
            <a:r>
              <a:rPr lang="zh-CN" altLang="en-US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</a:rPr>
              <a:t>公司里程碑</a:t>
            </a:r>
            <a:endParaRPr lang="zh-TW" alt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D7CE3EE7-AE11-5CD1-75DE-7BDF889A2A95}"/>
              </a:ext>
            </a:extLst>
          </p:cNvPr>
          <p:cNvGrpSpPr/>
          <p:nvPr/>
        </p:nvGrpSpPr>
        <p:grpSpPr>
          <a:xfrm>
            <a:off x="-820707" y="1047186"/>
            <a:ext cx="10487433" cy="5295724"/>
            <a:chOff x="-245543" y="1453387"/>
            <a:chExt cx="7865575" cy="3971793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FD9EB382-B06C-A4D3-E24A-003B79AF77E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-245543" y="1453387"/>
              <a:ext cx="7865575" cy="3971793"/>
              <a:chOff x="505644" y="1799743"/>
              <a:chExt cx="5050028" cy="2550059"/>
            </a:xfrm>
          </p:grpSpPr>
          <p:sp>
            <p:nvSpPr>
              <p:cNvPr id="11" name="Text 4">
                <a:extLst>
                  <a:ext uri="{FF2B5EF4-FFF2-40B4-BE49-F238E27FC236}">
                    <a16:creationId xmlns:a16="http://schemas.microsoft.com/office/drawing/2014/main" id="{132A2F90-9E59-B1D4-A1F4-A241B79BDCE9}"/>
                  </a:ext>
                </a:extLst>
              </p:cNvPr>
              <p:cNvSpPr/>
              <p:nvPr/>
            </p:nvSpPr>
            <p:spPr>
              <a:xfrm>
                <a:off x="1191213" y="1799743"/>
                <a:ext cx="4364459" cy="36715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endParaRPr lang="zh-CN" altLang="en-US" sz="1333" dirty="0"/>
              </a:p>
            </p:txBody>
          </p:sp>
          <p:sp>
            <p:nvSpPr>
              <p:cNvPr id="12" name="Text 5">
                <a:extLst>
                  <a:ext uri="{FF2B5EF4-FFF2-40B4-BE49-F238E27FC236}">
                    <a16:creationId xmlns:a16="http://schemas.microsoft.com/office/drawing/2014/main" id="{C764C9ED-230D-61B7-305E-CE09B8B2F4B3}"/>
                  </a:ext>
                </a:extLst>
              </p:cNvPr>
              <p:cNvSpPr/>
              <p:nvPr/>
            </p:nvSpPr>
            <p:spPr>
              <a:xfrm>
                <a:off x="1191212" y="2052903"/>
                <a:ext cx="4000277" cy="9688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ct val="104000"/>
                  </a:lnSpc>
                </a:pPr>
                <a:endParaRPr lang="zh-CN" altLang="en-US" sz="1867" b="1" dirty="0">
                  <a:solidFill>
                    <a:srgbClr val="333333"/>
                  </a:solidFill>
                  <a:latin typeface="Noto Sans TC Bold" pitchFamily="34" charset="0"/>
                  <a:ea typeface="Noto Sans TC Bold" pitchFamily="34" charset="-122"/>
                </a:endParaRPr>
              </a:p>
            </p:txBody>
          </p:sp>
          <p:sp>
            <p:nvSpPr>
              <p:cNvPr id="13" name="Shape 6">
                <a:extLst>
                  <a:ext uri="{FF2B5EF4-FFF2-40B4-BE49-F238E27FC236}">
                    <a16:creationId xmlns:a16="http://schemas.microsoft.com/office/drawing/2014/main" id="{6FF011BD-9088-A5F0-2D97-26A068FBEC04}"/>
                  </a:ext>
                </a:extLst>
              </p:cNvPr>
              <p:cNvSpPr/>
              <p:nvPr/>
            </p:nvSpPr>
            <p:spPr>
              <a:xfrm>
                <a:off x="2500982" y="2073922"/>
                <a:ext cx="9525" cy="2275880"/>
              </a:xfrm>
              <a:prstGeom prst="roundRect">
                <a:avLst>
                  <a:gd name="adj" fmla="val 273488"/>
                </a:avLst>
              </a:prstGeom>
              <a:solidFill>
                <a:srgbClr val="E4D7B3"/>
              </a:solidFill>
              <a:ln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Shape 7">
                <a:extLst>
                  <a:ext uri="{FF2B5EF4-FFF2-40B4-BE49-F238E27FC236}">
                    <a16:creationId xmlns:a16="http://schemas.microsoft.com/office/drawing/2014/main" id="{2C7AB9DB-2539-7CE3-F9F7-18D70898E988}"/>
                  </a:ext>
                </a:extLst>
              </p:cNvPr>
              <p:cNvSpPr/>
              <p:nvPr/>
            </p:nvSpPr>
            <p:spPr>
              <a:xfrm>
                <a:off x="2391296" y="2138885"/>
                <a:ext cx="123974" cy="9525"/>
              </a:xfrm>
              <a:prstGeom prst="roundRect">
                <a:avLst>
                  <a:gd name="adj" fmla="val 273488"/>
                </a:avLst>
              </a:prstGeom>
              <a:solidFill>
                <a:srgbClr val="E4D7B3"/>
              </a:solidFill>
              <a:ln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Shape 8">
                <a:extLst>
                  <a:ext uri="{FF2B5EF4-FFF2-40B4-BE49-F238E27FC236}">
                    <a16:creationId xmlns:a16="http://schemas.microsoft.com/office/drawing/2014/main" id="{36991990-6511-0618-74BC-65177190124D}"/>
                  </a:ext>
                </a:extLst>
              </p:cNvPr>
              <p:cNvSpPr/>
              <p:nvPr/>
            </p:nvSpPr>
            <p:spPr>
              <a:xfrm>
                <a:off x="2482490" y="2120393"/>
                <a:ext cx="46509" cy="46509"/>
              </a:xfrm>
              <a:prstGeom prst="ellipse">
                <a:avLst/>
              </a:prstGeom>
              <a:solidFill>
                <a:srgbClr val="FABF1B"/>
              </a:solidFill>
              <a:ln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6" name="Text 9">
                <a:extLst>
                  <a:ext uri="{FF2B5EF4-FFF2-40B4-BE49-F238E27FC236}">
                    <a16:creationId xmlns:a16="http://schemas.microsoft.com/office/drawing/2014/main" id="{F40BACDE-1E97-2B99-4353-71EBF1334BDC}"/>
                  </a:ext>
                </a:extLst>
              </p:cNvPr>
              <p:cNvSpPr/>
              <p:nvPr/>
            </p:nvSpPr>
            <p:spPr>
              <a:xfrm>
                <a:off x="505644" y="2095204"/>
                <a:ext cx="1752079" cy="9688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r">
                  <a:lnSpc>
                    <a:spcPct val="104000"/>
                  </a:lnSpc>
                </a:pPr>
                <a:r>
                  <a:rPr 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2019</a:t>
                </a:r>
                <a:endParaRPr lang="en-US" sz="1400" dirty="0"/>
              </a:p>
            </p:txBody>
          </p:sp>
          <p:sp>
            <p:nvSpPr>
              <p:cNvPr id="17" name="Text 10">
                <a:extLst>
                  <a:ext uri="{FF2B5EF4-FFF2-40B4-BE49-F238E27FC236}">
                    <a16:creationId xmlns:a16="http://schemas.microsoft.com/office/drawing/2014/main" id="{36523ECF-DACB-DA02-F5E1-DB25E8C38B46}"/>
                  </a:ext>
                </a:extLst>
              </p:cNvPr>
              <p:cNvSpPr/>
              <p:nvPr/>
            </p:nvSpPr>
            <p:spPr>
              <a:xfrm>
                <a:off x="505644" y="2223048"/>
                <a:ext cx="1752079" cy="7434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r"/>
                <a:r>
                  <a:rPr lang="zh-CN" altLang="en-US" sz="1400" dirty="0">
                    <a:solidFill>
                      <a:srgbClr val="5E5E5E"/>
                    </a:solidFill>
                    <a:latin typeface="Noto Sans TC" pitchFamily="34" charset="0"/>
                    <a:ea typeface="Noto Sans TC" pitchFamily="34" charset="-122"/>
                    <a:cs typeface="Noto Sans TC" pitchFamily="34" charset="-120"/>
                  </a:rPr>
                  <a:t>成立</a:t>
                </a:r>
                <a:endParaRPr lang="zh-CN" altLang="en-US" sz="1400" dirty="0"/>
              </a:p>
            </p:txBody>
          </p:sp>
          <p:sp>
            <p:nvSpPr>
              <p:cNvPr id="18" name="Shape 11">
                <a:extLst>
                  <a:ext uri="{FF2B5EF4-FFF2-40B4-BE49-F238E27FC236}">
                    <a16:creationId xmlns:a16="http://schemas.microsoft.com/office/drawing/2014/main" id="{5D0C5A45-762B-AF29-2742-B041464FA7EB}"/>
                  </a:ext>
                </a:extLst>
              </p:cNvPr>
              <p:cNvSpPr/>
              <p:nvPr/>
            </p:nvSpPr>
            <p:spPr>
              <a:xfrm>
                <a:off x="2496220" y="2448894"/>
                <a:ext cx="123974" cy="9525"/>
              </a:xfrm>
              <a:prstGeom prst="roundRect">
                <a:avLst>
                  <a:gd name="adj" fmla="val 273488"/>
                </a:avLst>
              </a:prstGeom>
              <a:solidFill>
                <a:srgbClr val="E4D7B3"/>
              </a:solidFill>
              <a:ln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9" name="Shape 12">
                <a:extLst>
                  <a:ext uri="{FF2B5EF4-FFF2-40B4-BE49-F238E27FC236}">
                    <a16:creationId xmlns:a16="http://schemas.microsoft.com/office/drawing/2014/main" id="{4644E2D3-BD1A-B16A-4C41-8F3A8365D40A}"/>
                  </a:ext>
                </a:extLst>
              </p:cNvPr>
              <p:cNvSpPr/>
              <p:nvPr/>
            </p:nvSpPr>
            <p:spPr>
              <a:xfrm>
                <a:off x="2482490" y="2430402"/>
                <a:ext cx="46509" cy="46509"/>
              </a:xfrm>
              <a:prstGeom prst="ellipse">
                <a:avLst/>
              </a:prstGeom>
              <a:solidFill>
                <a:srgbClr val="FABF1B"/>
              </a:solidFill>
              <a:ln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 13">
                <a:extLst>
                  <a:ext uri="{FF2B5EF4-FFF2-40B4-BE49-F238E27FC236}">
                    <a16:creationId xmlns:a16="http://schemas.microsoft.com/office/drawing/2014/main" id="{0CC79C4F-D25D-FA21-C286-C38A3951155F}"/>
                  </a:ext>
                </a:extLst>
              </p:cNvPr>
              <p:cNvSpPr/>
              <p:nvPr/>
            </p:nvSpPr>
            <p:spPr>
              <a:xfrm>
                <a:off x="2753767" y="2405213"/>
                <a:ext cx="1752154" cy="9688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ct val="104000"/>
                  </a:lnSpc>
                </a:pPr>
                <a:r>
                  <a:rPr 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2021</a:t>
                </a:r>
                <a:endParaRPr lang="en-US" sz="1400" dirty="0"/>
              </a:p>
            </p:txBody>
          </p:sp>
          <p:sp>
            <p:nvSpPr>
              <p:cNvPr id="21" name="Text 14">
                <a:extLst>
                  <a:ext uri="{FF2B5EF4-FFF2-40B4-BE49-F238E27FC236}">
                    <a16:creationId xmlns:a16="http://schemas.microsoft.com/office/drawing/2014/main" id="{EF86CA72-D06B-806A-2616-082C49349D84}"/>
                  </a:ext>
                </a:extLst>
              </p:cNvPr>
              <p:cNvSpPr/>
              <p:nvPr/>
            </p:nvSpPr>
            <p:spPr>
              <a:xfrm>
                <a:off x="2753767" y="2533057"/>
                <a:ext cx="1752154" cy="7434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zh-CN" altLang="en-US" sz="1400" dirty="0">
                    <a:solidFill>
                      <a:srgbClr val="5E5E5E"/>
                    </a:solidFill>
                    <a:latin typeface="Noto Sans TC" pitchFamily="34" charset="0"/>
                    <a:ea typeface="Noto Sans TC" pitchFamily="34" charset="-122"/>
                    <a:cs typeface="Noto Sans TC" pitchFamily="34" charset="-120"/>
                  </a:rPr>
                  <a:t>平台正式上線</a:t>
                </a:r>
                <a:endParaRPr lang="zh-CN" altLang="en-US" sz="1400" dirty="0"/>
              </a:p>
            </p:txBody>
          </p:sp>
          <p:sp>
            <p:nvSpPr>
              <p:cNvPr id="22" name="Shape 15">
                <a:extLst>
                  <a:ext uri="{FF2B5EF4-FFF2-40B4-BE49-F238E27FC236}">
                    <a16:creationId xmlns:a16="http://schemas.microsoft.com/office/drawing/2014/main" id="{0C427D7D-ED39-93F1-EB1F-0C202D93CDE4}"/>
                  </a:ext>
                </a:extLst>
              </p:cNvPr>
              <p:cNvSpPr/>
              <p:nvPr/>
            </p:nvSpPr>
            <p:spPr>
              <a:xfrm>
                <a:off x="2391296" y="2738588"/>
                <a:ext cx="123974" cy="9525"/>
              </a:xfrm>
              <a:prstGeom prst="roundRect">
                <a:avLst>
                  <a:gd name="adj" fmla="val 273488"/>
                </a:avLst>
              </a:prstGeom>
              <a:solidFill>
                <a:srgbClr val="E4D7B3"/>
              </a:solidFill>
              <a:ln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Shape 16">
                <a:extLst>
                  <a:ext uri="{FF2B5EF4-FFF2-40B4-BE49-F238E27FC236}">
                    <a16:creationId xmlns:a16="http://schemas.microsoft.com/office/drawing/2014/main" id="{4FD00578-21A5-DEB5-B864-D9C21B1EC389}"/>
                  </a:ext>
                </a:extLst>
              </p:cNvPr>
              <p:cNvSpPr/>
              <p:nvPr/>
            </p:nvSpPr>
            <p:spPr>
              <a:xfrm>
                <a:off x="2482490" y="2720096"/>
                <a:ext cx="46509" cy="46509"/>
              </a:xfrm>
              <a:prstGeom prst="ellipse">
                <a:avLst/>
              </a:prstGeom>
              <a:solidFill>
                <a:srgbClr val="FABF1B"/>
              </a:solidFill>
              <a:ln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" name="Shape 19">
                <a:extLst>
                  <a:ext uri="{FF2B5EF4-FFF2-40B4-BE49-F238E27FC236}">
                    <a16:creationId xmlns:a16="http://schemas.microsoft.com/office/drawing/2014/main" id="{D197D2E3-A312-9E87-AB3C-CF26AD4FC09B}"/>
                  </a:ext>
                </a:extLst>
              </p:cNvPr>
              <p:cNvSpPr/>
              <p:nvPr/>
            </p:nvSpPr>
            <p:spPr>
              <a:xfrm>
                <a:off x="2496220" y="3028282"/>
                <a:ext cx="123974" cy="9525"/>
              </a:xfrm>
              <a:prstGeom prst="roundRect">
                <a:avLst>
                  <a:gd name="adj" fmla="val 273488"/>
                </a:avLst>
              </a:prstGeom>
              <a:solidFill>
                <a:srgbClr val="E4D7B3"/>
              </a:solidFill>
              <a:ln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5" name="Shape 20">
                <a:extLst>
                  <a:ext uri="{FF2B5EF4-FFF2-40B4-BE49-F238E27FC236}">
                    <a16:creationId xmlns:a16="http://schemas.microsoft.com/office/drawing/2014/main" id="{3DE32A9A-74C8-CB53-F9B2-722386E5F03D}"/>
                  </a:ext>
                </a:extLst>
              </p:cNvPr>
              <p:cNvSpPr/>
              <p:nvPr/>
            </p:nvSpPr>
            <p:spPr>
              <a:xfrm>
                <a:off x="2482490" y="3009790"/>
                <a:ext cx="46509" cy="46509"/>
              </a:xfrm>
              <a:prstGeom prst="ellipse">
                <a:avLst/>
              </a:prstGeom>
              <a:solidFill>
                <a:srgbClr val="FABF1B"/>
              </a:solidFill>
              <a:ln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6" name="Text 21">
                <a:extLst>
                  <a:ext uri="{FF2B5EF4-FFF2-40B4-BE49-F238E27FC236}">
                    <a16:creationId xmlns:a16="http://schemas.microsoft.com/office/drawing/2014/main" id="{703C92F9-6337-1DF8-7FBE-B1E0C4092FEB}"/>
                  </a:ext>
                </a:extLst>
              </p:cNvPr>
              <p:cNvSpPr/>
              <p:nvPr/>
            </p:nvSpPr>
            <p:spPr>
              <a:xfrm>
                <a:off x="1928181" y="2979838"/>
                <a:ext cx="1752154" cy="9688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ct val="104000"/>
                  </a:lnSpc>
                </a:pPr>
                <a:r>
                  <a:rPr lang="zh-CN" alt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25,000 筆</a:t>
                </a:r>
                <a:endParaRPr lang="zh-CN" altLang="en-US" sz="1400" dirty="0"/>
              </a:p>
            </p:txBody>
          </p:sp>
          <p:sp>
            <p:nvSpPr>
              <p:cNvPr id="27" name="Text 22">
                <a:extLst>
                  <a:ext uri="{FF2B5EF4-FFF2-40B4-BE49-F238E27FC236}">
                    <a16:creationId xmlns:a16="http://schemas.microsoft.com/office/drawing/2014/main" id="{2017799D-1A3B-6459-97DD-70619919DD3F}"/>
                  </a:ext>
                </a:extLst>
              </p:cNvPr>
              <p:cNvSpPr/>
              <p:nvPr/>
            </p:nvSpPr>
            <p:spPr>
              <a:xfrm>
                <a:off x="1928181" y="3107683"/>
                <a:ext cx="1752154" cy="7434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zh-TW" alt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</a:rPr>
                  <a:t>完成交易</a:t>
                </a:r>
                <a:endParaRPr lang="zh-CN" altLang="en-US" sz="1400" b="1" dirty="0">
                  <a:solidFill>
                    <a:srgbClr val="5E5E5E"/>
                  </a:solidFill>
                  <a:latin typeface="Noto Sans TC Bold" pitchFamily="34" charset="0"/>
                  <a:ea typeface="Noto Sans TC Bold" pitchFamily="34" charset="-122"/>
                </a:endParaRPr>
              </a:p>
            </p:txBody>
          </p:sp>
          <p:sp>
            <p:nvSpPr>
              <p:cNvPr id="28" name="Shape 23">
                <a:extLst>
                  <a:ext uri="{FF2B5EF4-FFF2-40B4-BE49-F238E27FC236}">
                    <a16:creationId xmlns:a16="http://schemas.microsoft.com/office/drawing/2014/main" id="{D5C5CECD-B43F-8EA7-FDA7-22C49325C900}"/>
                  </a:ext>
                </a:extLst>
              </p:cNvPr>
              <p:cNvSpPr/>
              <p:nvPr/>
            </p:nvSpPr>
            <p:spPr>
              <a:xfrm>
                <a:off x="2391296" y="3317976"/>
                <a:ext cx="123974" cy="9525"/>
              </a:xfrm>
              <a:prstGeom prst="roundRect">
                <a:avLst>
                  <a:gd name="adj" fmla="val 273488"/>
                </a:avLst>
              </a:prstGeom>
              <a:solidFill>
                <a:srgbClr val="E4D7B3"/>
              </a:solidFill>
              <a:ln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9" name="Shape 24">
                <a:extLst>
                  <a:ext uri="{FF2B5EF4-FFF2-40B4-BE49-F238E27FC236}">
                    <a16:creationId xmlns:a16="http://schemas.microsoft.com/office/drawing/2014/main" id="{2E3C1746-5AEB-C5DE-82CD-070975044666}"/>
                  </a:ext>
                </a:extLst>
              </p:cNvPr>
              <p:cNvSpPr/>
              <p:nvPr/>
            </p:nvSpPr>
            <p:spPr>
              <a:xfrm>
                <a:off x="2482490" y="3299484"/>
                <a:ext cx="46509" cy="46509"/>
              </a:xfrm>
              <a:prstGeom prst="ellipse">
                <a:avLst/>
              </a:prstGeom>
              <a:solidFill>
                <a:srgbClr val="FABF1B"/>
              </a:solidFill>
              <a:ln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" name="Text 25">
                <a:extLst>
                  <a:ext uri="{FF2B5EF4-FFF2-40B4-BE49-F238E27FC236}">
                    <a16:creationId xmlns:a16="http://schemas.microsoft.com/office/drawing/2014/main" id="{D835038C-C27B-163E-94BF-0ED68F0CFD90}"/>
                  </a:ext>
                </a:extLst>
              </p:cNvPr>
              <p:cNvSpPr/>
              <p:nvPr/>
            </p:nvSpPr>
            <p:spPr>
              <a:xfrm>
                <a:off x="505644" y="2668009"/>
                <a:ext cx="1752079" cy="9688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r">
                  <a:lnSpc>
                    <a:spcPct val="104000"/>
                  </a:lnSpc>
                </a:pPr>
                <a:r>
                  <a:rPr lang="zh-CN" alt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2</a:t>
                </a:r>
                <a:r>
                  <a:rPr lang="en-US" altLang="zh-CN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2</a:t>
                </a:r>
                <a:r>
                  <a:rPr lang="zh-CN" alt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 萬</a:t>
                </a:r>
                <a:endParaRPr lang="zh-CN" altLang="en-US" sz="1400" dirty="0"/>
              </a:p>
            </p:txBody>
          </p:sp>
          <p:sp>
            <p:nvSpPr>
              <p:cNvPr id="31" name="Text 26">
                <a:extLst>
                  <a:ext uri="{FF2B5EF4-FFF2-40B4-BE49-F238E27FC236}">
                    <a16:creationId xmlns:a16="http://schemas.microsoft.com/office/drawing/2014/main" id="{9022518D-229C-B5D8-ECC6-A982D3C7359E}"/>
                  </a:ext>
                </a:extLst>
              </p:cNvPr>
              <p:cNvSpPr/>
              <p:nvPr/>
            </p:nvSpPr>
            <p:spPr>
              <a:xfrm>
                <a:off x="505644" y="2795854"/>
                <a:ext cx="1752079" cy="7434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r"/>
                <a:r>
                  <a:rPr lang="zh-CN" altLang="en-US" sz="1400" dirty="0">
                    <a:solidFill>
                      <a:srgbClr val="5E5E5E"/>
                    </a:solidFill>
                    <a:latin typeface="Noto Sans TC" pitchFamily="34" charset="0"/>
                    <a:ea typeface="Noto Sans TC" pitchFamily="34" charset="-122"/>
                    <a:cs typeface="Noto Sans TC" pitchFamily="34" charset="-120"/>
                  </a:rPr>
                  <a:t>平台會員</a:t>
                </a:r>
                <a:endParaRPr lang="zh-CN" altLang="en-US" sz="1400" dirty="0"/>
              </a:p>
            </p:txBody>
          </p:sp>
          <p:sp>
            <p:nvSpPr>
              <p:cNvPr id="32" name="Shape 27">
                <a:extLst>
                  <a:ext uri="{FF2B5EF4-FFF2-40B4-BE49-F238E27FC236}">
                    <a16:creationId xmlns:a16="http://schemas.microsoft.com/office/drawing/2014/main" id="{C0D32110-D3D7-F866-F8B4-FB8FA2218919}"/>
                  </a:ext>
                </a:extLst>
              </p:cNvPr>
              <p:cNvSpPr/>
              <p:nvPr/>
            </p:nvSpPr>
            <p:spPr>
              <a:xfrm>
                <a:off x="2496220" y="3607670"/>
                <a:ext cx="123974" cy="9525"/>
              </a:xfrm>
              <a:prstGeom prst="roundRect">
                <a:avLst>
                  <a:gd name="adj" fmla="val 273488"/>
                </a:avLst>
              </a:prstGeom>
              <a:solidFill>
                <a:srgbClr val="E4D7B3"/>
              </a:solidFill>
              <a:ln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3" name="Shape 28">
                <a:extLst>
                  <a:ext uri="{FF2B5EF4-FFF2-40B4-BE49-F238E27FC236}">
                    <a16:creationId xmlns:a16="http://schemas.microsoft.com/office/drawing/2014/main" id="{6FA34576-0AE6-6775-C9BC-F49B0590B163}"/>
                  </a:ext>
                </a:extLst>
              </p:cNvPr>
              <p:cNvSpPr/>
              <p:nvPr/>
            </p:nvSpPr>
            <p:spPr>
              <a:xfrm>
                <a:off x="2482490" y="3589178"/>
                <a:ext cx="46509" cy="46509"/>
              </a:xfrm>
              <a:prstGeom prst="ellipse">
                <a:avLst/>
              </a:prstGeom>
              <a:solidFill>
                <a:srgbClr val="FABF1B"/>
              </a:solidFill>
              <a:ln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4" name="Text 29">
                <a:extLst>
                  <a:ext uri="{FF2B5EF4-FFF2-40B4-BE49-F238E27FC236}">
                    <a16:creationId xmlns:a16="http://schemas.microsoft.com/office/drawing/2014/main" id="{4C0EA9BB-735E-217F-A2B7-7949FCF51460}"/>
                  </a:ext>
                </a:extLst>
              </p:cNvPr>
              <p:cNvSpPr/>
              <p:nvPr/>
            </p:nvSpPr>
            <p:spPr>
              <a:xfrm>
                <a:off x="1928181" y="3269532"/>
                <a:ext cx="1752154" cy="9688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ct val="104000"/>
                  </a:lnSpc>
                </a:pPr>
                <a:r>
                  <a:rPr lang="zh-CN" alt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2,200 位</a:t>
                </a:r>
                <a:endParaRPr lang="zh-CN" altLang="en-US" sz="1400" dirty="0"/>
              </a:p>
            </p:txBody>
          </p:sp>
          <p:sp>
            <p:nvSpPr>
              <p:cNvPr id="35" name="Text 30">
                <a:extLst>
                  <a:ext uri="{FF2B5EF4-FFF2-40B4-BE49-F238E27FC236}">
                    <a16:creationId xmlns:a16="http://schemas.microsoft.com/office/drawing/2014/main" id="{2B89675A-8447-CDEE-FA55-0C60AB32B1CE}"/>
                  </a:ext>
                </a:extLst>
              </p:cNvPr>
              <p:cNvSpPr/>
              <p:nvPr/>
            </p:nvSpPr>
            <p:spPr>
              <a:xfrm>
                <a:off x="1928181" y="3397376"/>
                <a:ext cx="1752154" cy="7434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r>
                  <a:rPr lang="zh-CN" altLang="en-US" sz="1400" dirty="0">
                    <a:solidFill>
                      <a:srgbClr val="5E5E5E"/>
                    </a:solidFill>
                    <a:latin typeface="Noto Sans TC" pitchFamily="34" charset="0"/>
                    <a:ea typeface="Noto Sans TC" pitchFamily="34" charset="-122"/>
                    <a:cs typeface="Noto Sans TC" pitchFamily="34" charset="-120"/>
                  </a:rPr>
                  <a:t>合作師傅</a:t>
                </a:r>
                <a:endParaRPr lang="zh-CN" altLang="en-US" sz="1400" dirty="0"/>
              </a:p>
            </p:txBody>
          </p:sp>
          <p:sp>
            <p:nvSpPr>
              <p:cNvPr id="36" name="Shape 31">
                <a:extLst>
                  <a:ext uri="{FF2B5EF4-FFF2-40B4-BE49-F238E27FC236}">
                    <a16:creationId xmlns:a16="http://schemas.microsoft.com/office/drawing/2014/main" id="{5102D88D-4A31-A7AD-F3C4-B4A8004ED4C9}"/>
                  </a:ext>
                </a:extLst>
              </p:cNvPr>
              <p:cNvSpPr/>
              <p:nvPr/>
            </p:nvSpPr>
            <p:spPr>
              <a:xfrm>
                <a:off x="2391296" y="3897364"/>
                <a:ext cx="123974" cy="9525"/>
              </a:xfrm>
              <a:prstGeom prst="roundRect">
                <a:avLst>
                  <a:gd name="adj" fmla="val 273488"/>
                </a:avLst>
              </a:prstGeom>
              <a:solidFill>
                <a:srgbClr val="E4D7B3"/>
              </a:solidFill>
              <a:ln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7" name="Shape 32">
                <a:extLst>
                  <a:ext uri="{FF2B5EF4-FFF2-40B4-BE49-F238E27FC236}">
                    <a16:creationId xmlns:a16="http://schemas.microsoft.com/office/drawing/2014/main" id="{6B1EB411-7798-01E0-E051-E26F91B3B98A}"/>
                  </a:ext>
                </a:extLst>
              </p:cNvPr>
              <p:cNvSpPr/>
              <p:nvPr/>
            </p:nvSpPr>
            <p:spPr>
              <a:xfrm>
                <a:off x="2482490" y="3878872"/>
                <a:ext cx="46509" cy="46509"/>
              </a:xfrm>
              <a:prstGeom prst="ellipse">
                <a:avLst/>
              </a:prstGeom>
              <a:solidFill>
                <a:srgbClr val="FABF1B"/>
              </a:solidFill>
              <a:ln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8" name="Text 33">
                <a:extLst>
                  <a:ext uri="{FF2B5EF4-FFF2-40B4-BE49-F238E27FC236}">
                    <a16:creationId xmlns:a16="http://schemas.microsoft.com/office/drawing/2014/main" id="{BEF5ECFD-C603-084D-103C-EECFC5ED2394}"/>
                  </a:ext>
                </a:extLst>
              </p:cNvPr>
              <p:cNvSpPr/>
              <p:nvPr/>
            </p:nvSpPr>
            <p:spPr>
              <a:xfrm>
                <a:off x="505644" y="3853683"/>
                <a:ext cx="1752079" cy="9688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r">
                  <a:lnSpc>
                    <a:spcPct val="104000"/>
                  </a:lnSpc>
                </a:pPr>
                <a:r>
                  <a:rPr 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2028</a:t>
                </a:r>
                <a:r>
                  <a:rPr lang="zh-TW" altLang="en-US" sz="1400" b="1" dirty="0">
                    <a:solidFill>
                      <a:srgbClr val="5E5E5E"/>
                    </a:solidFill>
                    <a:latin typeface="Noto Sans TC Bold" pitchFamily="34" charset="0"/>
                    <a:ea typeface="Noto Sans TC Bold" pitchFamily="34" charset="-122"/>
                    <a:cs typeface="Noto Sans TC Bold" pitchFamily="34" charset="-120"/>
                  </a:rPr>
                  <a:t>海外據點</a:t>
                </a:r>
                <a:endParaRPr lang="en-US" sz="1400" dirty="0"/>
              </a:p>
            </p:txBody>
          </p:sp>
        </p:grpSp>
        <p:sp>
          <p:nvSpPr>
            <p:cNvPr id="7" name="Text 13">
              <a:extLst>
                <a:ext uri="{FF2B5EF4-FFF2-40B4-BE49-F238E27FC236}">
                  <a16:creationId xmlns:a16="http://schemas.microsoft.com/office/drawing/2014/main" id="{BD01FCAB-E154-025B-DD61-8F04FF807232}"/>
                </a:ext>
              </a:extLst>
            </p:cNvPr>
            <p:cNvSpPr/>
            <p:nvPr/>
          </p:nvSpPr>
          <p:spPr>
            <a:xfrm>
              <a:off x="3154731" y="4130634"/>
              <a:ext cx="2729034" cy="1509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04000"/>
                </a:lnSpc>
              </a:pPr>
              <a:r>
                <a:rPr lang="en-US" sz="1400" b="1" dirty="0">
                  <a:solidFill>
                    <a:srgbClr val="5E5E5E"/>
                  </a:solidFill>
                  <a:latin typeface="Noto Sans TC Bold" pitchFamily="34" charset="0"/>
                  <a:ea typeface="Noto Sans TC Bold" pitchFamily="34" charset="-122"/>
                  <a:cs typeface="Noto Sans TC Bold" pitchFamily="34" charset="-120"/>
                </a:rPr>
                <a:t>2027</a:t>
              </a:r>
              <a:endParaRPr lang="en-US" sz="1400" dirty="0"/>
            </a:p>
          </p:txBody>
        </p:sp>
        <p:sp>
          <p:nvSpPr>
            <p:cNvPr id="8" name="Text 14">
              <a:extLst>
                <a:ext uri="{FF2B5EF4-FFF2-40B4-BE49-F238E27FC236}">
                  <a16:creationId xmlns:a16="http://schemas.microsoft.com/office/drawing/2014/main" id="{23386C8E-4485-3BCF-5610-9FACAFEA0924}"/>
                </a:ext>
              </a:extLst>
            </p:cNvPr>
            <p:cNvSpPr/>
            <p:nvPr/>
          </p:nvSpPr>
          <p:spPr>
            <a:xfrm>
              <a:off x="3154731" y="4329755"/>
              <a:ext cx="2729034" cy="1157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r>
                <a:rPr lang="zh-TW" altLang="en-US" sz="1400" dirty="0">
                  <a:solidFill>
                    <a:srgbClr val="5E5E5E"/>
                  </a:solidFill>
                  <a:latin typeface="Noto Sans TC" pitchFamily="34" charset="0"/>
                  <a:ea typeface="Noto Sans TC" pitchFamily="34" charset="-122"/>
                </a:rPr>
                <a:t>商城正式啟用</a:t>
              </a:r>
              <a:endParaRPr lang="zh-CN" altLang="en-US" sz="1400" dirty="0"/>
            </a:p>
          </p:txBody>
        </p:sp>
        <p:sp>
          <p:nvSpPr>
            <p:cNvPr id="9" name="Text 13">
              <a:extLst>
                <a:ext uri="{FF2B5EF4-FFF2-40B4-BE49-F238E27FC236}">
                  <a16:creationId xmlns:a16="http://schemas.microsoft.com/office/drawing/2014/main" id="{8320ACBE-DEF5-716B-42BA-6B503A86FF12}"/>
                </a:ext>
              </a:extLst>
            </p:cNvPr>
            <p:cNvSpPr/>
            <p:nvPr/>
          </p:nvSpPr>
          <p:spPr>
            <a:xfrm>
              <a:off x="3027163" y="2826574"/>
              <a:ext cx="2729034" cy="1509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04000"/>
                </a:lnSpc>
              </a:pPr>
              <a:r>
                <a:rPr lang="en-US" sz="1400" b="1" dirty="0">
                  <a:solidFill>
                    <a:srgbClr val="5E5E5E"/>
                  </a:solidFill>
                  <a:latin typeface="Noto Sans TC Bold" pitchFamily="34" charset="0"/>
                  <a:ea typeface="Noto Sans TC Bold" pitchFamily="34" charset="-122"/>
                  <a:cs typeface="Noto Sans TC Bold" pitchFamily="34" charset="-120"/>
                </a:rPr>
                <a:t>2026</a:t>
              </a:r>
              <a:endParaRPr lang="en-US" sz="1400" dirty="0"/>
            </a:p>
          </p:txBody>
        </p:sp>
      </p:grp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0455FC6-D5BA-13EE-5A63-FD76E711247A}"/>
              </a:ext>
            </a:extLst>
          </p:cNvPr>
          <p:cNvSpPr txBox="1"/>
          <p:nvPr/>
        </p:nvSpPr>
        <p:spPr>
          <a:xfrm>
            <a:off x="4940248" y="1660772"/>
            <a:ext cx="7362320" cy="22630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891" lvl="8" indent="-34289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2024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年榮獲</a:t>
            </a:r>
            <a:r>
              <a:rPr lang="zh-TW" altLang="en-US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品牌金舶獎、金漾獎、 新創</a:t>
            </a:r>
            <a:r>
              <a:rPr lang="en-US" altLang="zh-TW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100</a:t>
            </a:r>
            <a:r>
              <a:rPr lang="zh-TW" altLang="en-US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大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en-US" altLang="zh-TW" sz="160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342891" lvl="8" indent="-34289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2023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年榮獲第七屆</a:t>
            </a:r>
            <a:r>
              <a:rPr lang="zh-TW" altLang="en-US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台北市亮點企業 創新服務獎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342891" lvl="8" indent="-34289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2023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年獲得</a:t>
            </a:r>
            <a:r>
              <a:rPr lang="zh-TW" altLang="en-US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數位發展部數位雲服務補助計畫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en-US" altLang="zh-TW" sz="1600" b="1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342891" lvl="8" indent="-34289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2023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取得</a:t>
            </a:r>
            <a:r>
              <a:rPr lang="zh-TW" altLang="zh-TW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報價單產生系統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itchFamily="18" charset="0"/>
              </a:rPr>
              <a:t>、</a:t>
            </a:r>
            <a:r>
              <a:rPr lang="zh-TW" altLang="zh-TW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線上驗收系統專利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342891" lvl="8" indent="-34289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2021-2022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年</a:t>
            </a:r>
            <a:r>
              <a:rPr lang="zh-TW" altLang="en-US" sz="1600" b="1" u="sng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榮獲國發基金、統証創投、崇越科技、英濟科技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投資入股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  <a:p>
            <a:pPr marL="342891" lvl="8" indent="-34289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2022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年</a:t>
            </a:r>
            <a:r>
              <a:rPr lang="zh-TW" altLang="zh-TW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榮獲經濟部第</a:t>
            </a:r>
            <a:r>
              <a:rPr lang="en-US" altLang="zh-TW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21</a:t>
            </a:r>
            <a:r>
              <a:rPr lang="zh-TW" altLang="zh-TW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屆新創事業獎</a:t>
            </a:r>
            <a:r>
              <a:rPr lang="en-US" altLang="zh-TW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-</a:t>
            </a:r>
            <a:r>
              <a:rPr lang="zh-TW" altLang="zh-TW" sz="16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金質獎</a:t>
            </a:r>
            <a:r>
              <a:rPr lang="zh-TW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054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1130</Words>
  <Application>Microsoft Office PowerPoint</Application>
  <PresentationFormat>寬螢幕</PresentationFormat>
  <Paragraphs>150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7" baseType="lpstr">
      <vt:lpstr>Noto Sans TC</vt:lpstr>
      <vt:lpstr>Noto Sans TC Bold</vt:lpstr>
      <vt:lpstr>微軟正黑體</vt:lpstr>
      <vt:lpstr>標楷體</vt:lpstr>
      <vt:lpstr>Arial</vt:lpstr>
      <vt:lpstr>Calibri</vt:lpstr>
      <vt:lpstr>Calibri Light</vt:lpstr>
      <vt:lpstr>Wingdings</vt:lpstr>
      <vt:lpstr>Office 佈景主題</vt:lpstr>
      <vt:lpstr>首頁(現況)</vt:lpstr>
      <vt:lpstr>首頁(調整)</vt:lpstr>
      <vt:lpstr>首頁 – 新增【品牌宣言】區塊</vt:lpstr>
      <vt:lpstr>首頁 – 新增【商業模式差異】區塊-1</vt:lpstr>
      <vt:lpstr>首頁 – 新增【商業模式差異】區塊-2</vt:lpstr>
      <vt:lpstr>首頁 – 新增【企業福委會】區塊</vt:lpstr>
      <vt:lpstr>關於我們(現況)</vt:lpstr>
      <vt:lpstr>關於我們(調整)</vt:lpstr>
      <vt:lpstr>關於我們 – 創辦人的話</vt:lpstr>
      <vt:lpstr>關於我們 – 核心價值</vt:lpstr>
      <vt:lpstr>關於我們 – 我們的願景</vt:lpstr>
      <vt:lpstr>關於我們 – 公司里程碑 </vt:lpstr>
      <vt:lpstr>首頁&gt;主要強化我們跟其他平台的差異化,商模式不一樣的</vt:lpstr>
      <vt:lpstr>企業福委會特約廠商&gt;&gt;是否有可以報名的地方?</vt:lpstr>
      <vt:lpstr>關於我們調整</vt:lpstr>
      <vt:lpstr>PowerPoint 簡報</vt:lpstr>
      <vt:lpstr>未來展望&gt;改&gt;我們的願景</vt:lpstr>
      <vt:lpstr>關於我們-公司里程碑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Stacy Chen</dc:creator>
  <cp:lastModifiedBy>又德 王</cp:lastModifiedBy>
  <cp:revision>7</cp:revision>
  <dcterms:created xsi:type="dcterms:W3CDTF">2026-07-16T07:54:05Z</dcterms:created>
  <dcterms:modified xsi:type="dcterms:W3CDTF">2026-07-21T08:43:15Z</dcterms:modified>
</cp:coreProperties>
</file>